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Companies pay to protect forests. The trees keep carbon out of the air. How do you know a forest was really saved? Today, auditors check now and then. We check every week.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carbon credit is a payment to protect a forest. To prove it worked, you must show how much forest would have been cut without the project. That never happened, so it is guessed on paper. Nobody watches week by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protected forest. Find 50 similar patches nearby that are not protected. Satellites with radar see trees disappear every week, even through clouds. If the protected forest loses less, the difference is forest saved. We turn that into carbon dioxide and compare it with the promise. The score goes on a blockchain as an NFT: a public record nobody can quietly change.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ALGAR in Brazil. The protected forest lost 0.58% of its trees. The look-alikes lost 4.61%. That is about 8,000 football pitches saved, or 31% of the promise so far. The score is Worst, a warning to look closer.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quantum part. A normal computer estimates an average like a poll: it asks random questions. Ten times more precision needs a hundred times more questions. Quantum amplitude estimation needs only ten times more. We ran it on IBM's quantum computer. It beat the normal method at five of eight sizes, up to sixteen times better. But quantum chips make small mistakes, and at the biggest size they cancelled the advantage.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normal computers win at every size we can run. We also asked the quantum computer to pick the best three of eight patches. It found the best choice in 71% of valid runs, against 1.8% for guessing. Later, one-percent precision needs about 98,000 questions by polling and 2,000 by quantum. That matters when each question is a heavy simulation and we watch thousands of projects. Chips must first make 3,000 times fewer mistakes.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 buyers, registries, insurers and banks need to trust credits. They would pay a subscription per project. We have a working prototype on four projects. The NFTs are on a test blockchain, not real money. Next, we replace our guess of how much carbon a forest holds with project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2926080"/>
          </a:xfrm>
          <a:prstGeom prst="rect">
            <a:avLst/>
          </a:prstGeom>
          <a:noFill/>
        </p:spPr>
        <p:txBody>
          <a:bodyPr wrap="square" anchor="t" lIns="45720" rIns="45720" tIns="27432" bIns="27432">
            <a:spAutoFit/>
          </a:bodyPr>
          <a:lstStyle/>
          <a:p>
            <a:pPr algn="l">
              <a:lnSpc>
                <a:spcPct val="95000"/>
              </a:lnSpc>
            </a:pPr>
            <a:r>
              <a:rPr sz="5200" b="1">
                <a:solidFill>
                  <a:srgbClr val="FFFFFF"/>
                </a:solidFill>
                <a:latin typeface="Calibri"/>
              </a:rPr>
              <a:t>A company pays to protect a forest. How do you know the forest was really saved?</a:t>
            </a:r>
          </a:p>
        </p:txBody>
      </p:sp>
      <p:sp>
        <p:nvSpPr>
          <p:cNvPr id="4" name="TextBox 3"/>
          <p:cNvSpPr txBox="1"/>
          <p:nvPr/>
        </p:nvSpPr>
        <p:spPr>
          <a:xfrm>
            <a:off x="822960" y="4572000"/>
            <a:ext cx="10058400" cy="822960"/>
          </a:xfrm>
          <a:prstGeom prst="rect">
            <a:avLst/>
          </a:prstGeom>
          <a:noFill/>
        </p:spPr>
        <p:txBody>
          <a:bodyPr wrap="square" anchor="t" lIns="45720" rIns="45720" tIns="27432" bIns="27432">
            <a:spAutoFit/>
          </a:bodyPr>
          <a:lstStyle/>
          <a:p>
            <a:pPr algn="l">
              <a:lnSpc>
                <a:spcPct val="105000"/>
              </a:lnSpc>
            </a:pPr>
            <a:r>
              <a:rPr sz="4000" b="1">
                <a:solidFill>
                  <a:srgbClr val="4ADE9B"/>
                </a:solidFill>
                <a:latin typeface="Calibri"/>
              </a:rPr>
              <a:t>Qanopy checks, every week.</a:t>
            </a:r>
          </a:p>
        </p:txBody>
      </p:sp>
      <p:sp>
        <p:nvSpPr>
          <p:cNvPr id="5" name="TextBox 4"/>
          <p:cNvSpPr txBox="1"/>
          <p:nvPr/>
        </p:nvSpPr>
        <p:spPr>
          <a:xfrm>
            <a:off x="822960" y="5943600"/>
            <a:ext cx="10058400" cy="365760"/>
          </a:xfrm>
          <a:prstGeom prst="rect">
            <a:avLst/>
          </a:prstGeom>
          <a:noFill/>
        </p:spPr>
        <p:txBody>
          <a:bodyPr wrap="square" anchor="t" lIns="45720" rIns="45720" tIns="27432" bIns="27432">
            <a:spAutoFit/>
          </a:bodyPr>
          <a:lstStyle/>
          <a:p>
            <a:pPr algn="l">
              <a:lnSpc>
                <a:spcPct val="105000"/>
              </a:lnSpc>
            </a:pPr>
            <a:r>
              <a:rPr sz="1600" b="0">
                <a:solidFill>
                  <a:srgbClr val="B5D3C4"/>
                </a:solidFill>
                <a:latin typeface="Calibri"/>
              </a:rPr>
              <a:t>Quantum x Finance 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1188720"/>
          </a:xfrm>
          <a:prstGeom prst="rect">
            <a:avLst/>
          </a:prstGeom>
          <a:noFill/>
        </p:spPr>
        <p:txBody>
          <a:bodyPr wrap="square" anchor="t" lIns="45720" rIns="45720" tIns="27432" bIns="27432">
            <a:spAutoFit/>
          </a:bodyPr>
          <a:lstStyle/>
          <a:p>
            <a:pPr algn="l">
              <a:lnSpc>
                <a:spcPct val="95000"/>
              </a:lnSpc>
            </a:pPr>
            <a:r>
              <a:rPr sz="4000" b="1">
                <a:solidFill>
                  <a:srgbClr val="0C3D2B"/>
                </a:solidFill>
                <a:latin typeface="Calibri"/>
              </a:rPr>
              <a:t>You cannot see a forest that was never cut down</a:t>
            </a:r>
          </a:p>
        </p:txBody>
      </p:sp>
      <p:sp>
        <p:nvSpPr>
          <p:cNvPr id="3" name="Rectangle 2"/>
          <p:cNvSpPr/>
          <p:nvPr/>
        </p:nvSpPr>
        <p:spPr>
          <a:xfrm>
            <a:off x="685800" y="1764792"/>
            <a:ext cx="1097280" cy="64008"/>
          </a:xfrm>
          <a:prstGeom prst="rect">
            <a:avLst/>
          </a:prstGeom>
          <a:solidFill>
            <a:srgbClr val="159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194560"/>
            <a:ext cx="10835640" cy="118872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94560"/>
            <a:ext cx="2377440" cy="1188720"/>
          </a:xfrm>
          <a:prstGeom prst="rect">
            <a:avLst/>
          </a:prstGeom>
          <a:noFill/>
        </p:spPr>
        <p:txBody>
          <a:bodyPr wrap="square" anchor="ctr" lIns="45720" rIns="45720" tIns="27432" bIns="27432">
            <a:spAutoFit/>
          </a:bodyPr>
          <a:lstStyle/>
          <a:p>
            <a:pPr algn="l">
              <a:lnSpc>
                <a:spcPct val="105000"/>
              </a:lnSpc>
            </a:pPr>
            <a:r>
              <a:rPr sz="2400" b="1">
                <a:solidFill>
                  <a:srgbClr val="0C3D2B"/>
                </a:solidFill>
                <a:latin typeface="Calibri"/>
              </a:rPr>
              <a:t>The promise</a:t>
            </a:r>
          </a:p>
        </p:txBody>
      </p:sp>
      <p:sp>
        <p:nvSpPr>
          <p:cNvPr id="6" name="TextBox 5"/>
          <p:cNvSpPr txBox="1"/>
          <p:nvPr/>
        </p:nvSpPr>
        <p:spPr>
          <a:xfrm>
            <a:off x="3246120" y="2194560"/>
            <a:ext cx="8092440" cy="1188720"/>
          </a:xfrm>
          <a:prstGeom prst="rect">
            <a:avLst/>
          </a:prstGeom>
          <a:noFill/>
        </p:spPr>
        <p:txBody>
          <a:bodyPr wrap="square" anchor="ctr" lIns="45720" rIns="45720" tIns="27432" bIns="27432">
            <a:spAutoFit/>
          </a:bodyPr>
          <a:lstStyle/>
          <a:p>
            <a:pPr algn="l">
              <a:lnSpc>
                <a:spcPct val="100000"/>
              </a:lnSpc>
            </a:pPr>
            <a:r>
              <a:rPr sz="2200" b="0">
                <a:solidFill>
                  <a:srgbClr val="0F2419"/>
                </a:solidFill>
                <a:latin typeface="Calibri"/>
              </a:rPr>
              <a:t>Pay to protect a forest. The trees keep carbon out of the air.</a:t>
            </a:r>
          </a:p>
        </p:txBody>
      </p:sp>
      <p:sp>
        <p:nvSpPr>
          <p:cNvPr id="7" name="Rectangle 6"/>
          <p:cNvSpPr/>
          <p:nvPr/>
        </p:nvSpPr>
        <p:spPr>
          <a:xfrm>
            <a:off x="685800" y="3566160"/>
            <a:ext cx="10835640" cy="118872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566160"/>
            <a:ext cx="2377440" cy="1188720"/>
          </a:xfrm>
          <a:prstGeom prst="rect">
            <a:avLst/>
          </a:prstGeom>
          <a:noFill/>
        </p:spPr>
        <p:txBody>
          <a:bodyPr wrap="square" anchor="ctr" lIns="45720" rIns="45720" tIns="27432" bIns="27432">
            <a:spAutoFit/>
          </a:bodyPr>
          <a:lstStyle/>
          <a:p>
            <a:pPr algn="l">
              <a:lnSpc>
                <a:spcPct val="105000"/>
              </a:lnSpc>
            </a:pPr>
            <a:r>
              <a:rPr sz="2400" b="1">
                <a:solidFill>
                  <a:srgbClr val="0C3D2B"/>
                </a:solidFill>
                <a:latin typeface="Calibri"/>
              </a:rPr>
              <a:t>The catch</a:t>
            </a:r>
          </a:p>
        </p:txBody>
      </p:sp>
      <p:sp>
        <p:nvSpPr>
          <p:cNvPr id="9" name="TextBox 8"/>
          <p:cNvSpPr txBox="1"/>
          <p:nvPr/>
        </p:nvSpPr>
        <p:spPr>
          <a:xfrm>
            <a:off x="3246120" y="3566160"/>
            <a:ext cx="8092440" cy="1188720"/>
          </a:xfrm>
          <a:prstGeom prst="rect">
            <a:avLst/>
          </a:prstGeom>
          <a:noFill/>
        </p:spPr>
        <p:txBody>
          <a:bodyPr wrap="square" anchor="ctr" lIns="45720" rIns="45720" tIns="27432" bIns="27432">
            <a:spAutoFit/>
          </a:bodyPr>
          <a:lstStyle/>
          <a:p>
            <a:pPr algn="l">
              <a:lnSpc>
                <a:spcPct val="100000"/>
              </a:lnSpc>
            </a:pPr>
            <a:r>
              <a:rPr sz="2200" b="0">
                <a:solidFill>
                  <a:srgbClr val="0F2419"/>
                </a:solidFill>
                <a:latin typeface="Calibri"/>
              </a:rPr>
              <a:t>To prove it worked, you must know what would have happened without the project. That never happened, so it is guessed.</a:t>
            </a:r>
          </a:p>
        </p:txBody>
      </p:sp>
      <p:sp>
        <p:nvSpPr>
          <p:cNvPr id="10" name="Rectangle 9"/>
          <p:cNvSpPr/>
          <p:nvPr/>
        </p:nvSpPr>
        <p:spPr>
          <a:xfrm>
            <a:off x="685800" y="4937760"/>
            <a:ext cx="10835640" cy="118872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937760"/>
            <a:ext cx="2377440" cy="1188720"/>
          </a:xfrm>
          <a:prstGeom prst="rect">
            <a:avLst/>
          </a:prstGeom>
          <a:noFill/>
        </p:spPr>
        <p:txBody>
          <a:bodyPr wrap="square" anchor="ctr" lIns="45720" rIns="45720" tIns="27432" bIns="27432">
            <a:spAutoFit/>
          </a:bodyPr>
          <a:lstStyle/>
          <a:p>
            <a:pPr algn="l">
              <a:lnSpc>
                <a:spcPct val="105000"/>
              </a:lnSpc>
            </a:pPr>
            <a:r>
              <a:rPr sz="2400" b="1">
                <a:solidFill>
                  <a:srgbClr val="0C3D2B"/>
                </a:solidFill>
                <a:latin typeface="Calibri"/>
              </a:rPr>
              <a:t>The check</a:t>
            </a:r>
          </a:p>
        </p:txBody>
      </p:sp>
      <p:sp>
        <p:nvSpPr>
          <p:cNvPr id="12" name="TextBox 11"/>
          <p:cNvSpPr txBox="1"/>
          <p:nvPr/>
        </p:nvSpPr>
        <p:spPr>
          <a:xfrm>
            <a:off x="3246120" y="4937760"/>
            <a:ext cx="8092440" cy="1188720"/>
          </a:xfrm>
          <a:prstGeom prst="rect">
            <a:avLst/>
          </a:prstGeom>
          <a:noFill/>
        </p:spPr>
        <p:txBody>
          <a:bodyPr wrap="square" anchor="ctr" lIns="45720" rIns="45720" tIns="27432" bIns="27432">
            <a:spAutoFit/>
          </a:bodyPr>
          <a:lstStyle/>
          <a:p>
            <a:pPr algn="l">
              <a:lnSpc>
                <a:spcPct val="100000"/>
              </a:lnSpc>
            </a:pPr>
            <a:r>
              <a:rPr sz="2200" b="0">
                <a:solidFill>
                  <a:srgbClr val="0F2419"/>
                </a:solidFill>
                <a:latin typeface="Calibri"/>
              </a:rPr>
              <a:t>Auditors look now and then. Nobody watches every week.</a:t>
            </a:r>
          </a:p>
        </p:txBody>
      </p:sp>
      <p:sp>
        <p:nvSpPr>
          <p:cNvPr id="13" name="TextBox 12"/>
          <p:cNvSpPr txBox="1"/>
          <p:nvPr/>
        </p:nvSpPr>
        <p:spPr>
          <a:xfrm>
            <a:off x="640080" y="6400800"/>
            <a:ext cx="5486400" cy="274320"/>
          </a:xfrm>
          <a:prstGeom prst="rect">
            <a:avLst/>
          </a:prstGeom>
          <a:noFill/>
        </p:spPr>
        <p:txBody>
          <a:bodyPr wrap="square" anchor="t" lIns="45720" rIns="45720" tIns="27432" bIns="27432">
            <a:spAutoFit/>
          </a:bodyPr>
          <a:lstStyle/>
          <a:p>
            <a:pPr algn="l">
              <a:lnSpc>
                <a:spcPct val="105000"/>
              </a:lnSpc>
            </a:pPr>
            <a:r>
              <a:rPr sz="1200" b="0">
                <a:solidFill>
                  <a:srgbClr val="587063"/>
                </a:solidFill>
                <a:latin typeface="Calibri"/>
              </a:rPr>
              <a:t>Qanopy · Carbon credit verification</a:t>
            </a:r>
          </a:p>
        </p:txBody>
      </p:sp>
      <p:sp>
        <p:nvSpPr>
          <p:cNvPr id="14" name="TextBox 13"/>
          <p:cNvSpPr txBox="1"/>
          <p:nvPr/>
        </p:nvSpPr>
        <p:spPr>
          <a:xfrm>
            <a:off x="10881360" y="6400800"/>
            <a:ext cx="731520" cy="274320"/>
          </a:xfrm>
          <a:prstGeom prst="rect">
            <a:avLst/>
          </a:prstGeom>
          <a:noFill/>
        </p:spPr>
        <p:txBody>
          <a:bodyPr wrap="square" anchor="t" lIns="45720" rIns="45720" tIns="27432" bIns="27432">
            <a:spAutoFit/>
          </a:bodyPr>
          <a:lstStyle/>
          <a:p>
            <a:pPr algn="r">
              <a:lnSpc>
                <a:spcPct val="105000"/>
              </a:lnSpc>
            </a:pPr>
            <a:r>
              <a:rPr sz="1200" b="0">
                <a:solidFill>
                  <a:srgbClr val="58706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1188720"/>
          </a:xfrm>
          <a:prstGeom prst="rect">
            <a:avLst/>
          </a:prstGeom>
          <a:noFill/>
        </p:spPr>
        <p:txBody>
          <a:bodyPr wrap="square" anchor="t" lIns="45720" rIns="45720" tIns="27432" bIns="27432">
            <a:spAutoFit/>
          </a:bodyPr>
          <a:lstStyle/>
          <a:p>
            <a:pPr algn="l">
              <a:lnSpc>
                <a:spcPct val="95000"/>
              </a:lnSpc>
            </a:pPr>
            <a:r>
              <a:rPr sz="3600" b="1">
                <a:solidFill>
                  <a:srgbClr val="0C3D2B"/>
                </a:solidFill>
                <a:latin typeface="Calibri"/>
              </a:rPr>
              <a:t>We compare protected forest with look-alike forest</a:t>
            </a:r>
          </a:p>
        </p:txBody>
      </p:sp>
      <p:sp>
        <p:nvSpPr>
          <p:cNvPr id="3" name="Rectangle 2"/>
          <p:cNvSpPr/>
          <p:nvPr/>
        </p:nvSpPr>
        <p:spPr>
          <a:xfrm>
            <a:off x="685800" y="1764792"/>
            <a:ext cx="1097280" cy="64008"/>
          </a:xfrm>
          <a:prstGeom prst="rect">
            <a:avLst/>
          </a:prstGeom>
          <a:solidFill>
            <a:srgbClr val="159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entagon 3"/>
          <p:cNvSpPr/>
          <p:nvPr/>
        </p:nvSpPr>
        <p:spPr>
          <a:xfrm>
            <a:off x="685800" y="2194560"/>
            <a:ext cx="2057400" cy="1737360"/>
          </a:xfrm>
          <a:prstGeom prst="homePlate">
            <a:avLst/>
          </a:prstGeom>
          <a:solidFill>
            <a:srgbClr val="0C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31720"/>
            <a:ext cx="1508760" cy="548640"/>
          </a:xfrm>
          <a:prstGeom prst="rect">
            <a:avLst/>
          </a:prstGeom>
          <a:noFill/>
        </p:spPr>
        <p:txBody>
          <a:bodyPr wrap="square" anchor="t" lIns="45720" rIns="45720" tIns="27432" bIns="27432">
            <a:spAutoFit/>
          </a:bodyPr>
          <a:lstStyle/>
          <a:p>
            <a:pPr algn="l">
              <a:lnSpc>
                <a:spcPct val="105000"/>
              </a:lnSpc>
            </a:pPr>
            <a:r>
              <a:rPr sz="2400" b="1">
                <a:solidFill>
                  <a:srgbClr val="FFFFFF"/>
                </a:solidFill>
                <a:latin typeface="Calibri"/>
              </a:rPr>
              <a:t>Upload</a:t>
            </a:r>
          </a:p>
        </p:txBody>
      </p:sp>
      <p:sp>
        <p:nvSpPr>
          <p:cNvPr id="6" name="TextBox 5"/>
          <p:cNvSpPr txBox="1"/>
          <p:nvPr/>
        </p:nvSpPr>
        <p:spPr>
          <a:xfrm>
            <a:off x="822960" y="2926080"/>
            <a:ext cx="1508760" cy="914400"/>
          </a:xfrm>
          <a:prstGeom prst="rect">
            <a:avLst/>
          </a:prstGeom>
          <a:noFill/>
        </p:spPr>
        <p:txBody>
          <a:bodyPr wrap="square" anchor="t" lIns="45720" rIns="45720" tIns="27432" bIns="27432">
            <a:spAutoFit/>
          </a:bodyPr>
          <a:lstStyle/>
          <a:p>
            <a:pPr algn="l">
              <a:lnSpc>
                <a:spcPct val="105000"/>
              </a:lnSpc>
            </a:pPr>
            <a:r>
              <a:rPr sz="1900" b="0">
                <a:solidFill>
                  <a:srgbClr val="D8F0E4"/>
                </a:solidFill>
                <a:latin typeface="Calibri"/>
              </a:rPr>
              <a:t>the project's
map file</a:t>
            </a:r>
          </a:p>
        </p:txBody>
      </p:sp>
      <p:sp>
        <p:nvSpPr>
          <p:cNvPr id="7" name="Pentagon 6"/>
          <p:cNvSpPr/>
          <p:nvPr/>
        </p:nvSpPr>
        <p:spPr>
          <a:xfrm>
            <a:off x="2880360" y="2194560"/>
            <a:ext cx="2057400" cy="1737360"/>
          </a:xfrm>
          <a:prstGeom prst="homePlate">
            <a:avLst/>
          </a:prstGeom>
          <a:solidFill>
            <a:srgbClr val="0C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331720"/>
            <a:ext cx="1508760" cy="548640"/>
          </a:xfrm>
          <a:prstGeom prst="rect">
            <a:avLst/>
          </a:prstGeom>
          <a:noFill/>
        </p:spPr>
        <p:txBody>
          <a:bodyPr wrap="square" anchor="t" lIns="45720" rIns="45720" tIns="27432" bIns="27432">
            <a:spAutoFit/>
          </a:bodyPr>
          <a:lstStyle/>
          <a:p>
            <a:pPr algn="l">
              <a:lnSpc>
                <a:spcPct val="105000"/>
              </a:lnSpc>
            </a:pPr>
            <a:r>
              <a:rPr sz="2400" b="1">
                <a:solidFill>
                  <a:srgbClr val="FFFFFF"/>
                </a:solidFill>
                <a:latin typeface="Calibri"/>
              </a:rPr>
              <a:t>Match</a:t>
            </a:r>
          </a:p>
        </p:txBody>
      </p:sp>
      <p:sp>
        <p:nvSpPr>
          <p:cNvPr id="9" name="TextBox 8"/>
          <p:cNvSpPr txBox="1"/>
          <p:nvPr/>
        </p:nvSpPr>
        <p:spPr>
          <a:xfrm>
            <a:off x="3017520" y="2926080"/>
            <a:ext cx="1508760" cy="914400"/>
          </a:xfrm>
          <a:prstGeom prst="rect">
            <a:avLst/>
          </a:prstGeom>
          <a:noFill/>
        </p:spPr>
        <p:txBody>
          <a:bodyPr wrap="square" anchor="t" lIns="45720" rIns="45720" tIns="27432" bIns="27432">
            <a:spAutoFit/>
          </a:bodyPr>
          <a:lstStyle/>
          <a:p>
            <a:pPr algn="l">
              <a:lnSpc>
                <a:spcPct val="105000"/>
              </a:lnSpc>
            </a:pPr>
            <a:r>
              <a:rPr sz="1900" b="0">
                <a:solidFill>
                  <a:srgbClr val="D8F0E4"/>
                </a:solidFill>
                <a:latin typeface="Calibri"/>
              </a:rPr>
              <a:t>50 look-alike
forest patches</a:t>
            </a:r>
          </a:p>
        </p:txBody>
      </p:sp>
      <p:sp>
        <p:nvSpPr>
          <p:cNvPr id="10" name="Pentagon 9"/>
          <p:cNvSpPr/>
          <p:nvPr/>
        </p:nvSpPr>
        <p:spPr>
          <a:xfrm>
            <a:off x="5074920" y="2194560"/>
            <a:ext cx="2057400" cy="1737360"/>
          </a:xfrm>
          <a:prstGeom prst="homePlate">
            <a:avLst/>
          </a:prstGeom>
          <a:solidFill>
            <a:srgbClr val="0C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2331720"/>
            <a:ext cx="1508760" cy="548640"/>
          </a:xfrm>
          <a:prstGeom prst="rect">
            <a:avLst/>
          </a:prstGeom>
          <a:noFill/>
        </p:spPr>
        <p:txBody>
          <a:bodyPr wrap="square" anchor="t" lIns="45720" rIns="45720" tIns="27432" bIns="27432">
            <a:spAutoFit/>
          </a:bodyPr>
          <a:lstStyle/>
          <a:p>
            <a:pPr algn="l">
              <a:lnSpc>
                <a:spcPct val="105000"/>
              </a:lnSpc>
            </a:pPr>
            <a:r>
              <a:rPr sz="2400" b="1">
                <a:solidFill>
                  <a:srgbClr val="FFFFFF"/>
                </a:solidFill>
                <a:latin typeface="Calibri"/>
              </a:rPr>
              <a:t>Watch</a:t>
            </a:r>
          </a:p>
        </p:txBody>
      </p:sp>
      <p:sp>
        <p:nvSpPr>
          <p:cNvPr id="12" name="TextBox 11"/>
          <p:cNvSpPr txBox="1"/>
          <p:nvPr/>
        </p:nvSpPr>
        <p:spPr>
          <a:xfrm>
            <a:off x="5212080" y="2926080"/>
            <a:ext cx="1508760" cy="914400"/>
          </a:xfrm>
          <a:prstGeom prst="rect">
            <a:avLst/>
          </a:prstGeom>
          <a:noFill/>
        </p:spPr>
        <p:txBody>
          <a:bodyPr wrap="square" anchor="t" lIns="45720" rIns="45720" tIns="27432" bIns="27432">
            <a:spAutoFit/>
          </a:bodyPr>
          <a:lstStyle/>
          <a:p>
            <a:pPr algn="l">
              <a:lnSpc>
                <a:spcPct val="105000"/>
              </a:lnSpc>
            </a:pPr>
            <a:r>
              <a:rPr sz="1900" b="0">
                <a:solidFill>
                  <a:srgbClr val="D8F0E4"/>
                </a:solidFill>
                <a:latin typeface="Calibri"/>
              </a:rPr>
              <a:t>weekly radar
from satellites</a:t>
            </a:r>
          </a:p>
        </p:txBody>
      </p:sp>
      <p:sp>
        <p:nvSpPr>
          <p:cNvPr id="13" name="Pentagon 12"/>
          <p:cNvSpPr/>
          <p:nvPr/>
        </p:nvSpPr>
        <p:spPr>
          <a:xfrm>
            <a:off x="7269479" y="2194560"/>
            <a:ext cx="2057400" cy="1737360"/>
          </a:xfrm>
          <a:prstGeom prst="homePlate">
            <a:avLst/>
          </a:prstGeom>
          <a:solidFill>
            <a:srgbClr val="0C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0" y="2331720"/>
            <a:ext cx="1508760" cy="548640"/>
          </a:xfrm>
          <a:prstGeom prst="rect">
            <a:avLst/>
          </a:prstGeom>
          <a:noFill/>
        </p:spPr>
        <p:txBody>
          <a:bodyPr wrap="square" anchor="t" lIns="45720" rIns="45720" tIns="27432" bIns="27432">
            <a:spAutoFit/>
          </a:bodyPr>
          <a:lstStyle/>
          <a:p>
            <a:pPr algn="l">
              <a:lnSpc>
                <a:spcPct val="105000"/>
              </a:lnSpc>
            </a:pPr>
            <a:r>
              <a:rPr sz="2400" b="1">
                <a:solidFill>
                  <a:srgbClr val="FFFFFF"/>
                </a:solidFill>
                <a:latin typeface="Calibri"/>
              </a:rPr>
              <a:t>Compare</a:t>
            </a:r>
          </a:p>
        </p:txBody>
      </p:sp>
      <p:sp>
        <p:nvSpPr>
          <p:cNvPr id="15" name="TextBox 14"/>
          <p:cNvSpPr txBox="1"/>
          <p:nvPr/>
        </p:nvSpPr>
        <p:spPr>
          <a:xfrm>
            <a:off x="7406640" y="2926080"/>
            <a:ext cx="1508760" cy="914400"/>
          </a:xfrm>
          <a:prstGeom prst="rect">
            <a:avLst/>
          </a:prstGeom>
          <a:noFill/>
        </p:spPr>
        <p:txBody>
          <a:bodyPr wrap="square" anchor="t" lIns="45720" rIns="45720" tIns="27432" bIns="27432">
            <a:spAutoFit/>
          </a:bodyPr>
          <a:lstStyle/>
          <a:p>
            <a:pPr algn="l">
              <a:lnSpc>
                <a:spcPct val="105000"/>
              </a:lnSpc>
            </a:pPr>
            <a:r>
              <a:rPr sz="1900" b="0">
                <a:solidFill>
                  <a:srgbClr val="D8F0E4"/>
                </a:solidFill>
                <a:latin typeface="Calibri"/>
              </a:rPr>
              <a:t>forest saved,
in tons of CO2</a:t>
            </a:r>
          </a:p>
        </p:txBody>
      </p:sp>
      <p:sp>
        <p:nvSpPr>
          <p:cNvPr id="16" name="Pentagon 15"/>
          <p:cNvSpPr/>
          <p:nvPr/>
        </p:nvSpPr>
        <p:spPr>
          <a:xfrm>
            <a:off x="9464040" y="2194560"/>
            <a:ext cx="2057400" cy="1737360"/>
          </a:xfrm>
          <a:prstGeom prst="homePlate">
            <a:avLst/>
          </a:prstGeom>
          <a:solidFill>
            <a:srgbClr val="159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2331720"/>
            <a:ext cx="1508760" cy="548640"/>
          </a:xfrm>
          <a:prstGeom prst="rect">
            <a:avLst/>
          </a:prstGeom>
          <a:noFill/>
        </p:spPr>
        <p:txBody>
          <a:bodyPr wrap="square" anchor="t" lIns="45720" rIns="45720" tIns="27432" bIns="27432">
            <a:spAutoFit/>
          </a:bodyPr>
          <a:lstStyle/>
          <a:p>
            <a:pPr algn="l">
              <a:lnSpc>
                <a:spcPct val="105000"/>
              </a:lnSpc>
            </a:pPr>
            <a:r>
              <a:rPr sz="2400" b="1">
                <a:solidFill>
                  <a:srgbClr val="FFFFFF"/>
                </a:solidFill>
                <a:latin typeface="Calibri"/>
              </a:rPr>
              <a:t>Publish</a:t>
            </a:r>
          </a:p>
        </p:txBody>
      </p:sp>
      <p:sp>
        <p:nvSpPr>
          <p:cNvPr id="18" name="TextBox 17"/>
          <p:cNvSpPr txBox="1"/>
          <p:nvPr/>
        </p:nvSpPr>
        <p:spPr>
          <a:xfrm>
            <a:off x="9601200" y="2926080"/>
            <a:ext cx="1508760" cy="914400"/>
          </a:xfrm>
          <a:prstGeom prst="rect">
            <a:avLst/>
          </a:prstGeom>
          <a:noFill/>
        </p:spPr>
        <p:txBody>
          <a:bodyPr wrap="square" anchor="t" lIns="45720" rIns="45720" tIns="27432" bIns="27432">
            <a:spAutoFit/>
          </a:bodyPr>
          <a:lstStyle/>
          <a:p>
            <a:pPr algn="l">
              <a:lnSpc>
                <a:spcPct val="105000"/>
              </a:lnSpc>
            </a:pPr>
            <a:r>
              <a:rPr sz="1900" b="0">
                <a:solidFill>
                  <a:srgbClr val="D8F0E4"/>
                </a:solidFill>
                <a:latin typeface="Calibri"/>
              </a:rPr>
              <a:t>a public score
as an NFT</a:t>
            </a:r>
          </a:p>
        </p:txBody>
      </p:sp>
      <p:sp>
        <p:nvSpPr>
          <p:cNvPr id="19" name="Rectangle 18"/>
          <p:cNvSpPr/>
          <p:nvPr/>
        </p:nvSpPr>
        <p:spPr>
          <a:xfrm>
            <a:off x="685800" y="4251960"/>
            <a:ext cx="10835640" cy="86868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51960"/>
            <a:ext cx="2743200" cy="868680"/>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What is an NFT?</a:t>
            </a:r>
          </a:p>
        </p:txBody>
      </p:sp>
      <p:sp>
        <p:nvSpPr>
          <p:cNvPr id="21" name="TextBox 20"/>
          <p:cNvSpPr txBox="1"/>
          <p:nvPr/>
        </p:nvSpPr>
        <p:spPr>
          <a:xfrm>
            <a:off x="3611880" y="4251960"/>
            <a:ext cx="7726679" cy="868680"/>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A public record on a blockchain. Anyone can read it. Nobody can quietly change it.</a:t>
            </a:r>
          </a:p>
        </p:txBody>
      </p:sp>
      <p:sp>
        <p:nvSpPr>
          <p:cNvPr id="22" name="Rectangle 21"/>
          <p:cNvSpPr/>
          <p:nvPr/>
        </p:nvSpPr>
        <p:spPr>
          <a:xfrm>
            <a:off x="685800" y="5257800"/>
            <a:ext cx="10835640" cy="86868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257800"/>
            <a:ext cx="2743200" cy="868680"/>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Any project</a:t>
            </a:r>
          </a:p>
        </p:txBody>
      </p:sp>
      <p:sp>
        <p:nvSpPr>
          <p:cNvPr id="24" name="TextBox 23"/>
          <p:cNvSpPr txBox="1"/>
          <p:nvPr/>
        </p:nvSpPr>
        <p:spPr>
          <a:xfrm>
            <a:off x="3611880" y="5257800"/>
            <a:ext cx="7726679" cy="868680"/>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Upload a map file. Four projects run today.</a:t>
            </a:r>
          </a:p>
        </p:txBody>
      </p:sp>
      <p:sp>
        <p:nvSpPr>
          <p:cNvPr id="25" name="TextBox 24"/>
          <p:cNvSpPr txBox="1"/>
          <p:nvPr/>
        </p:nvSpPr>
        <p:spPr>
          <a:xfrm>
            <a:off x="640080" y="6400800"/>
            <a:ext cx="5486400" cy="274320"/>
          </a:xfrm>
          <a:prstGeom prst="rect">
            <a:avLst/>
          </a:prstGeom>
          <a:noFill/>
        </p:spPr>
        <p:txBody>
          <a:bodyPr wrap="square" anchor="t" lIns="45720" rIns="45720" tIns="27432" bIns="27432">
            <a:spAutoFit/>
          </a:bodyPr>
          <a:lstStyle/>
          <a:p>
            <a:pPr algn="l">
              <a:lnSpc>
                <a:spcPct val="105000"/>
              </a:lnSpc>
            </a:pPr>
            <a:r>
              <a:rPr sz="1200" b="0">
                <a:solidFill>
                  <a:srgbClr val="587063"/>
                </a:solidFill>
                <a:latin typeface="Calibri"/>
              </a:rPr>
              <a:t>Qanopy · Carbon credit verification</a:t>
            </a:r>
          </a:p>
        </p:txBody>
      </p:sp>
      <p:sp>
        <p:nvSpPr>
          <p:cNvPr id="26" name="TextBox 25"/>
          <p:cNvSpPr txBox="1"/>
          <p:nvPr/>
        </p:nvSpPr>
        <p:spPr>
          <a:xfrm>
            <a:off x="10881360" y="6400800"/>
            <a:ext cx="731520" cy="274320"/>
          </a:xfrm>
          <a:prstGeom prst="rect">
            <a:avLst/>
          </a:prstGeom>
          <a:noFill/>
        </p:spPr>
        <p:txBody>
          <a:bodyPr wrap="square" anchor="t" lIns="45720" rIns="45720" tIns="27432" bIns="27432">
            <a:spAutoFit/>
          </a:bodyPr>
          <a:lstStyle/>
          <a:p>
            <a:pPr algn="r">
              <a:lnSpc>
                <a:spcPct val="105000"/>
              </a:lnSpc>
            </a:pPr>
            <a:r>
              <a:rPr sz="1200" b="0">
                <a:solidFill>
                  <a:srgbClr val="58706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881360" cy="1188720"/>
          </a:xfrm>
          <a:prstGeom prst="rect">
            <a:avLst/>
          </a:prstGeom>
          <a:noFill/>
        </p:spPr>
        <p:txBody>
          <a:bodyPr wrap="square" anchor="t" lIns="45720" rIns="45720" tIns="27432" bIns="27432">
            <a:spAutoFit/>
          </a:bodyPr>
          <a:lstStyle/>
          <a:p>
            <a:pPr algn="l">
              <a:lnSpc>
                <a:spcPct val="95000"/>
              </a:lnSpc>
            </a:pPr>
            <a:r>
              <a:rPr sz="3400" b="1">
                <a:solidFill>
                  <a:srgbClr val="0C3D2B"/>
                </a:solidFill>
                <a:latin typeface="Calibri"/>
              </a:rPr>
              <a:t>ALGAR, Brazil: 31% of the promise delivered so far</a:t>
            </a:r>
          </a:p>
        </p:txBody>
      </p:sp>
      <p:sp>
        <p:nvSpPr>
          <p:cNvPr id="3" name="Rectangle 2"/>
          <p:cNvSpPr/>
          <p:nvPr/>
        </p:nvSpPr>
        <p:spPr>
          <a:xfrm>
            <a:off x="685800" y="1097280"/>
            <a:ext cx="1097280" cy="64008"/>
          </a:xfrm>
          <a:prstGeom prst="rect">
            <a:avLst/>
          </a:prstGeom>
          <a:solidFill>
            <a:srgbClr val="159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ck_hero_c.png"/>
          <p:cNvPicPr>
            <a:picLocks noChangeAspect="1"/>
          </p:cNvPicPr>
          <p:nvPr/>
        </p:nvPicPr>
        <p:blipFill>
          <a:blip r:embed="rId3"/>
          <a:stretch>
            <a:fillRect/>
          </a:stretch>
        </p:blipFill>
        <p:spPr>
          <a:xfrm>
            <a:off x="1280160" y="1463040"/>
            <a:ext cx="9601200" cy="4200525"/>
          </a:xfrm>
          <a:prstGeom prst="rect">
            <a:avLst/>
          </a:prstGeom>
        </p:spPr>
      </p:pic>
      <p:sp>
        <p:nvSpPr>
          <p:cNvPr id="5" name="TextBox 4"/>
          <p:cNvSpPr txBox="1"/>
          <p:nvPr/>
        </p:nvSpPr>
        <p:spPr>
          <a:xfrm>
            <a:off x="685800" y="5852160"/>
            <a:ext cx="10835640" cy="548640"/>
          </a:xfrm>
          <a:prstGeom prst="rect">
            <a:avLst/>
          </a:prstGeom>
          <a:noFill/>
        </p:spPr>
        <p:txBody>
          <a:bodyPr wrap="square" anchor="t" lIns="45720" rIns="45720" tIns="27432" bIns="27432">
            <a:spAutoFit/>
          </a:bodyPr>
          <a:lstStyle/>
          <a:p>
            <a:pPr algn="l">
              <a:lnSpc>
                <a:spcPct val="105000"/>
              </a:lnSpc>
            </a:pPr>
            <a:r>
              <a:rPr sz="2000" b="1">
                <a:solidFill>
                  <a:srgbClr val="0C3D2B"/>
                </a:solidFill>
                <a:latin typeface="Calibri"/>
              </a:rPr>
              <a:t>Protected forest lost 0.58%. Look-alikes lost 4.61%. </a:t>
            </a:r>
            <a:r>
              <a:rPr sz="2000" b="0">
                <a:solidFill>
                  <a:srgbClr val="0F2419"/>
                </a:solidFill>
                <a:latin typeface="Calibri"/>
              </a:rPr>
              <a:t>Score: Worst. A warning to look closer.</a:t>
            </a:r>
          </a:p>
        </p:txBody>
      </p:sp>
      <p:sp>
        <p:nvSpPr>
          <p:cNvPr id="6" name="TextBox 5"/>
          <p:cNvSpPr txBox="1"/>
          <p:nvPr/>
        </p:nvSpPr>
        <p:spPr>
          <a:xfrm>
            <a:off x="640080" y="6400800"/>
            <a:ext cx="5486400" cy="274320"/>
          </a:xfrm>
          <a:prstGeom prst="rect">
            <a:avLst/>
          </a:prstGeom>
          <a:noFill/>
        </p:spPr>
        <p:txBody>
          <a:bodyPr wrap="square" anchor="t" lIns="45720" rIns="45720" tIns="27432" bIns="27432">
            <a:spAutoFit/>
          </a:bodyPr>
          <a:lstStyle/>
          <a:p>
            <a:pPr algn="l">
              <a:lnSpc>
                <a:spcPct val="105000"/>
              </a:lnSpc>
            </a:pPr>
            <a:r>
              <a:rPr sz="1200" b="0">
                <a:solidFill>
                  <a:srgbClr val="587063"/>
                </a:solidFill>
                <a:latin typeface="Calibri"/>
              </a:rPr>
              <a:t>Qanopy · Carbon credit verification</a:t>
            </a:r>
          </a:p>
        </p:txBody>
      </p:sp>
      <p:sp>
        <p:nvSpPr>
          <p:cNvPr id="7" name="TextBox 6"/>
          <p:cNvSpPr txBox="1"/>
          <p:nvPr/>
        </p:nvSpPr>
        <p:spPr>
          <a:xfrm>
            <a:off x="10881360" y="6400800"/>
            <a:ext cx="731520" cy="274320"/>
          </a:xfrm>
          <a:prstGeom prst="rect">
            <a:avLst/>
          </a:prstGeom>
          <a:noFill/>
        </p:spPr>
        <p:txBody>
          <a:bodyPr wrap="square" anchor="t" lIns="45720" rIns="45720" tIns="27432" bIns="27432">
            <a:spAutoFit/>
          </a:bodyPr>
          <a:lstStyle/>
          <a:p>
            <a:pPr algn="r">
              <a:lnSpc>
                <a:spcPct val="105000"/>
              </a:lnSpc>
            </a:pPr>
            <a:r>
              <a:rPr sz="1200" b="0">
                <a:solidFill>
                  <a:srgbClr val="58706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1188720"/>
          </a:xfrm>
          <a:prstGeom prst="rect">
            <a:avLst/>
          </a:prstGeom>
          <a:noFill/>
        </p:spPr>
        <p:txBody>
          <a:bodyPr wrap="square" anchor="t" lIns="45720" rIns="45720" tIns="27432" bIns="27432">
            <a:spAutoFit/>
          </a:bodyPr>
          <a:lstStyle/>
          <a:p>
            <a:pPr algn="l">
              <a:lnSpc>
                <a:spcPct val="95000"/>
              </a:lnSpc>
            </a:pPr>
            <a:r>
              <a:rPr sz="3400" b="1">
                <a:solidFill>
                  <a:srgbClr val="0C3D2B"/>
                </a:solidFill>
                <a:latin typeface="Calibri"/>
              </a:rPr>
              <a:t>We tested a quantum shortcut on IBM's quantum computer</a:t>
            </a:r>
          </a:p>
        </p:txBody>
      </p:sp>
      <p:sp>
        <p:nvSpPr>
          <p:cNvPr id="3" name="Rectangle 2"/>
          <p:cNvSpPr/>
          <p:nvPr/>
        </p:nvSpPr>
        <p:spPr>
          <a:xfrm>
            <a:off x="685800" y="1234440"/>
            <a:ext cx="1097280" cy="64008"/>
          </a:xfrm>
          <a:prstGeom prst="rect">
            <a:avLst/>
          </a:prstGeom>
          <a:solidFill>
            <a:srgbClr val="159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qae_chart.png"/>
          <p:cNvPicPr>
            <a:picLocks noChangeAspect="1"/>
          </p:cNvPicPr>
          <p:nvPr/>
        </p:nvPicPr>
        <p:blipFill>
          <a:blip r:embed="rId3"/>
          <a:stretch>
            <a:fillRect/>
          </a:stretch>
        </p:blipFill>
        <p:spPr>
          <a:xfrm>
            <a:off x="548640" y="1600200"/>
            <a:ext cx="6035040" cy="3855720"/>
          </a:xfrm>
          <a:prstGeom prst="rect">
            <a:avLst/>
          </a:prstGeom>
        </p:spPr>
      </p:pic>
      <p:sp>
        <p:nvSpPr>
          <p:cNvPr id="5" name="Rectangle 4"/>
          <p:cNvSpPr/>
          <p:nvPr/>
        </p:nvSpPr>
        <p:spPr>
          <a:xfrm>
            <a:off x="6858000" y="1783080"/>
            <a:ext cx="4709160" cy="123444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0" y="1783080"/>
            <a:ext cx="1188720" cy="1234440"/>
          </a:xfrm>
          <a:prstGeom prst="rect">
            <a:avLst/>
          </a:prstGeom>
          <a:noFill/>
        </p:spPr>
        <p:txBody>
          <a:bodyPr wrap="square" anchor="ctr" lIns="45720" rIns="45720" tIns="27432" bIns="27432">
            <a:spAutoFit/>
          </a:bodyPr>
          <a:lstStyle/>
          <a:p>
            <a:pPr algn="l">
              <a:lnSpc>
                <a:spcPct val="105000"/>
              </a:lnSpc>
            </a:pPr>
            <a:r>
              <a:rPr sz="2100" b="1">
                <a:solidFill>
                  <a:srgbClr val="0C3D2B"/>
                </a:solidFill>
                <a:latin typeface="Calibri"/>
              </a:rPr>
              <a:t>Idea</a:t>
            </a:r>
          </a:p>
        </p:txBody>
      </p:sp>
      <p:sp>
        <p:nvSpPr>
          <p:cNvPr id="7" name="TextBox 6"/>
          <p:cNvSpPr txBox="1"/>
          <p:nvPr/>
        </p:nvSpPr>
        <p:spPr>
          <a:xfrm>
            <a:off x="8229600" y="1783080"/>
            <a:ext cx="3154680" cy="1234440"/>
          </a:xfrm>
          <a:prstGeom prst="rect">
            <a:avLst/>
          </a:prstGeom>
          <a:noFill/>
        </p:spPr>
        <p:txBody>
          <a:bodyPr wrap="square" anchor="ctr" lIns="45720" rIns="45720" tIns="27432" bIns="27432">
            <a:spAutoFit/>
          </a:bodyPr>
          <a:lstStyle/>
          <a:p>
            <a:pPr algn="l">
              <a:lnSpc>
                <a:spcPct val="100000"/>
              </a:lnSpc>
            </a:pPr>
            <a:r>
              <a:rPr sz="1900" b="0">
                <a:solidFill>
                  <a:srgbClr val="0F2419"/>
                </a:solidFill>
                <a:latin typeface="Calibri"/>
              </a:rPr>
              <a:t>A poll needs many random questions. A quantum computer can ask smarter ones.</a:t>
            </a:r>
          </a:p>
        </p:txBody>
      </p:sp>
      <p:sp>
        <p:nvSpPr>
          <p:cNvPr id="8" name="Rectangle 7"/>
          <p:cNvSpPr/>
          <p:nvPr/>
        </p:nvSpPr>
        <p:spPr>
          <a:xfrm>
            <a:off x="6858000" y="3200400"/>
            <a:ext cx="4709160" cy="123444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3200400"/>
            <a:ext cx="1188720" cy="1234440"/>
          </a:xfrm>
          <a:prstGeom prst="rect">
            <a:avLst/>
          </a:prstGeom>
          <a:noFill/>
        </p:spPr>
        <p:txBody>
          <a:bodyPr wrap="square" anchor="ctr" lIns="45720" rIns="45720" tIns="27432" bIns="27432">
            <a:spAutoFit/>
          </a:bodyPr>
          <a:lstStyle/>
          <a:p>
            <a:pPr algn="l">
              <a:lnSpc>
                <a:spcPct val="105000"/>
              </a:lnSpc>
            </a:pPr>
            <a:r>
              <a:rPr sz="2100" b="1">
                <a:solidFill>
                  <a:srgbClr val="0C3D2B"/>
                </a:solidFill>
                <a:latin typeface="Calibri"/>
              </a:rPr>
              <a:t>Result</a:t>
            </a:r>
          </a:p>
        </p:txBody>
      </p:sp>
      <p:sp>
        <p:nvSpPr>
          <p:cNvPr id="10" name="TextBox 9"/>
          <p:cNvSpPr txBox="1"/>
          <p:nvPr/>
        </p:nvSpPr>
        <p:spPr>
          <a:xfrm>
            <a:off x="8229600" y="3200400"/>
            <a:ext cx="3154680" cy="1234440"/>
          </a:xfrm>
          <a:prstGeom prst="rect">
            <a:avLst/>
          </a:prstGeom>
          <a:noFill/>
        </p:spPr>
        <p:txBody>
          <a:bodyPr wrap="square" anchor="ctr" lIns="45720" rIns="45720" tIns="27432" bIns="27432">
            <a:spAutoFit/>
          </a:bodyPr>
          <a:lstStyle/>
          <a:p>
            <a:pPr algn="l">
              <a:lnSpc>
                <a:spcPct val="100000"/>
              </a:lnSpc>
            </a:pPr>
            <a:r>
              <a:rPr sz="1900" b="0">
                <a:solidFill>
                  <a:srgbClr val="0F2419"/>
                </a:solidFill>
                <a:latin typeface="Calibri"/>
              </a:rPr>
              <a:t>Up to 16 times more accurate at 5 of 8 sizes.</a:t>
            </a:r>
          </a:p>
        </p:txBody>
      </p:sp>
      <p:sp>
        <p:nvSpPr>
          <p:cNvPr id="11" name="Rectangle 10"/>
          <p:cNvSpPr/>
          <p:nvPr/>
        </p:nvSpPr>
        <p:spPr>
          <a:xfrm>
            <a:off x="6858000" y="4617720"/>
            <a:ext cx="4709160" cy="123444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4617720"/>
            <a:ext cx="1188720" cy="1234440"/>
          </a:xfrm>
          <a:prstGeom prst="rect">
            <a:avLst/>
          </a:prstGeom>
          <a:noFill/>
        </p:spPr>
        <p:txBody>
          <a:bodyPr wrap="square" anchor="ctr" lIns="45720" rIns="45720" tIns="27432" bIns="27432">
            <a:spAutoFit/>
          </a:bodyPr>
          <a:lstStyle/>
          <a:p>
            <a:pPr algn="l">
              <a:lnSpc>
                <a:spcPct val="105000"/>
              </a:lnSpc>
            </a:pPr>
            <a:r>
              <a:rPr sz="2100" b="1">
                <a:solidFill>
                  <a:srgbClr val="0C3D2B"/>
                </a:solidFill>
                <a:latin typeface="Calibri"/>
              </a:rPr>
              <a:t>Limit</a:t>
            </a:r>
          </a:p>
        </p:txBody>
      </p:sp>
      <p:sp>
        <p:nvSpPr>
          <p:cNvPr id="13" name="TextBox 12"/>
          <p:cNvSpPr txBox="1"/>
          <p:nvPr/>
        </p:nvSpPr>
        <p:spPr>
          <a:xfrm>
            <a:off x="8229600" y="4617720"/>
            <a:ext cx="3154680" cy="1234440"/>
          </a:xfrm>
          <a:prstGeom prst="rect">
            <a:avLst/>
          </a:prstGeom>
          <a:noFill/>
        </p:spPr>
        <p:txBody>
          <a:bodyPr wrap="square" anchor="ctr" lIns="45720" rIns="45720" tIns="27432" bIns="27432">
            <a:spAutoFit/>
          </a:bodyPr>
          <a:lstStyle/>
          <a:p>
            <a:pPr algn="l">
              <a:lnSpc>
                <a:spcPct val="100000"/>
              </a:lnSpc>
            </a:pPr>
            <a:r>
              <a:rPr sz="1900" b="0">
                <a:solidFill>
                  <a:srgbClr val="0F2419"/>
                </a:solidFill>
                <a:latin typeface="Calibri"/>
              </a:rPr>
              <a:t>Chip mistakes pile up. At the biggest size the edge was gone.</a:t>
            </a:r>
          </a:p>
        </p:txBody>
      </p:sp>
      <p:sp>
        <p:nvSpPr>
          <p:cNvPr id="14" name="TextBox 13"/>
          <p:cNvSpPr txBox="1"/>
          <p:nvPr/>
        </p:nvSpPr>
        <p:spPr>
          <a:xfrm>
            <a:off x="6858000" y="5760720"/>
            <a:ext cx="4754880" cy="548640"/>
          </a:xfrm>
          <a:prstGeom prst="rect">
            <a:avLst/>
          </a:prstGeom>
          <a:noFill/>
        </p:spPr>
        <p:txBody>
          <a:bodyPr wrap="square" anchor="t" lIns="45720" rIns="45720" tIns="27432" bIns="27432">
            <a:spAutoFit/>
          </a:bodyPr>
          <a:lstStyle/>
          <a:p>
            <a:pPr algn="l">
              <a:lnSpc>
                <a:spcPct val="105000"/>
              </a:lnSpc>
            </a:pPr>
            <a:r>
              <a:rPr sz="1300" b="0">
                <a:solidFill>
                  <a:srgbClr val="587063"/>
                </a:solidFill>
                <a:latin typeface="Calibri"/>
              </a:rPr>
              <a:t>Qubit = quantum bit. One test run per point on IBM's 156-qubit chip.</a:t>
            </a:r>
          </a:p>
        </p:txBody>
      </p:sp>
      <p:sp>
        <p:nvSpPr>
          <p:cNvPr id="15" name="TextBox 14"/>
          <p:cNvSpPr txBox="1"/>
          <p:nvPr/>
        </p:nvSpPr>
        <p:spPr>
          <a:xfrm>
            <a:off x="640080" y="6400800"/>
            <a:ext cx="5486400" cy="274320"/>
          </a:xfrm>
          <a:prstGeom prst="rect">
            <a:avLst/>
          </a:prstGeom>
          <a:noFill/>
        </p:spPr>
        <p:txBody>
          <a:bodyPr wrap="square" anchor="t" lIns="45720" rIns="45720" tIns="27432" bIns="27432">
            <a:spAutoFit/>
          </a:bodyPr>
          <a:lstStyle/>
          <a:p>
            <a:pPr algn="l">
              <a:lnSpc>
                <a:spcPct val="105000"/>
              </a:lnSpc>
            </a:pPr>
            <a:r>
              <a:rPr sz="1200" b="0">
                <a:solidFill>
                  <a:srgbClr val="587063"/>
                </a:solidFill>
                <a:latin typeface="Calibri"/>
              </a:rPr>
              <a:t>Qanopy · Carbon credit verification</a:t>
            </a:r>
          </a:p>
        </p:txBody>
      </p:sp>
      <p:sp>
        <p:nvSpPr>
          <p:cNvPr id="16" name="TextBox 15"/>
          <p:cNvSpPr txBox="1"/>
          <p:nvPr/>
        </p:nvSpPr>
        <p:spPr>
          <a:xfrm>
            <a:off x="10881360" y="6400800"/>
            <a:ext cx="731520" cy="274320"/>
          </a:xfrm>
          <a:prstGeom prst="rect">
            <a:avLst/>
          </a:prstGeom>
          <a:noFill/>
        </p:spPr>
        <p:txBody>
          <a:bodyPr wrap="square" anchor="t" lIns="45720" rIns="45720" tIns="27432" bIns="27432">
            <a:spAutoFit/>
          </a:bodyPr>
          <a:lstStyle/>
          <a:p>
            <a:pPr algn="r">
              <a:lnSpc>
                <a:spcPct val="105000"/>
              </a:lnSpc>
            </a:pPr>
            <a:r>
              <a:rPr sz="1200" b="0">
                <a:solidFill>
                  <a:srgbClr val="58706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1188720"/>
          </a:xfrm>
          <a:prstGeom prst="rect">
            <a:avLst/>
          </a:prstGeom>
          <a:noFill/>
        </p:spPr>
        <p:txBody>
          <a:bodyPr wrap="square" anchor="t" lIns="45720" rIns="45720" tIns="27432" bIns="27432">
            <a:spAutoFit/>
          </a:bodyPr>
          <a:lstStyle/>
          <a:p>
            <a:pPr algn="l">
              <a:lnSpc>
                <a:spcPct val="95000"/>
              </a:lnSpc>
            </a:pPr>
            <a:r>
              <a:rPr sz="4000" b="1">
                <a:solidFill>
                  <a:srgbClr val="0C3D2B"/>
                </a:solidFill>
                <a:latin typeface="Calibri"/>
              </a:rPr>
              <a:t>Quantum could save computing time at large scale</a:t>
            </a:r>
          </a:p>
        </p:txBody>
      </p:sp>
      <p:sp>
        <p:nvSpPr>
          <p:cNvPr id="3" name="Rectangle 2"/>
          <p:cNvSpPr/>
          <p:nvPr/>
        </p:nvSpPr>
        <p:spPr>
          <a:xfrm>
            <a:off x="685800" y="1764792"/>
            <a:ext cx="1097280" cy="64008"/>
          </a:xfrm>
          <a:prstGeom prst="rect">
            <a:avLst/>
          </a:prstGeom>
          <a:solidFill>
            <a:srgbClr val="159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011680"/>
            <a:ext cx="10835640" cy="91440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11680"/>
            <a:ext cx="2194560" cy="914400"/>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Today</a:t>
            </a:r>
          </a:p>
        </p:txBody>
      </p:sp>
      <p:sp>
        <p:nvSpPr>
          <p:cNvPr id="6" name="TextBox 5"/>
          <p:cNvSpPr txBox="1"/>
          <p:nvPr/>
        </p:nvSpPr>
        <p:spPr>
          <a:xfrm>
            <a:off x="3063239" y="2011680"/>
            <a:ext cx="8275319" cy="914400"/>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Normal computers win at every size we can run. Our quantum parts are tests.</a:t>
            </a:r>
          </a:p>
        </p:txBody>
      </p:sp>
      <p:sp>
        <p:nvSpPr>
          <p:cNvPr id="7" name="Rectangle 6"/>
          <p:cNvSpPr/>
          <p:nvPr/>
        </p:nvSpPr>
        <p:spPr>
          <a:xfrm>
            <a:off x="685800" y="3035808"/>
            <a:ext cx="10835640" cy="91440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35808"/>
            <a:ext cx="2194560" cy="914400"/>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Also tested</a:t>
            </a:r>
          </a:p>
        </p:txBody>
      </p:sp>
      <p:sp>
        <p:nvSpPr>
          <p:cNvPr id="9" name="TextBox 8"/>
          <p:cNvSpPr txBox="1"/>
          <p:nvPr/>
        </p:nvSpPr>
        <p:spPr>
          <a:xfrm>
            <a:off x="3063239" y="3035808"/>
            <a:ext cx="8275319" cy="914400"/>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Picking the best 3 of 8 forest patches: found in 71% of valid runs. Guessing: 1.8%.</a:t>
            </a:r>
          </a:p>
        </p:txBody>
      </p:sp>
      <p:sp>
        <p:nvSpPr>
          <p:cNvPr id="10" name="Rectangle 9"/>
          <p:cNvSpPr/>
          <p:nvPr/>
        </p:nvSpPr>
        <p:spPr>
          <a:xfrm>
            <a:off x="685800" y="4059936"/>
            <a:ext cx="10835640" cy="91440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059936"/>
            <a:ext cx="2194560" cy="914400"/>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Later</a:t>
            </a:r>
          </a:p>
        </p:txBody>
      </p:sp>
      <p:sp>
        <p:nvSpPr>
          <p:cNvPr id="12" name="TextBox 11"/>
          <p:cNvSpPr txBox="1"/>
          <p:nvPr/>
        </p:nvSpPr>
        <p:spPr>
          <a:xfrm>
            <a:off x="3063239" y="4059936"/>
            <a:ext cx="8275319" cy="914400"/>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For 1% precision, polling needs about 98,000 questions and quantum about 2,000. That helps when each question is a heavy simulation.</a:t>
            </a:r>
          </a:p>
        </p:txBody>
      </p:sp>
      <p:sp>
        <p:nvSpPr>
          <p:cNvPr id="13" name="Rectangle 12"/>
          <p:cNvSpPr/>
          <p:nvPr/>
        </p:nvSpPr>
        <p:spPr>
          <a:xfrm>
            <a:off x="685800" y="5084064"/>
            <a:ext cx="10835640" cy="914400"/>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084064"/>
            <a:ext cx="2194560" cy="914400"/>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Needed</a:t>
            </a:r>
          </a:p>
        </p:txBody>
      </p:sp>
      <p:sp>
        <p:nvSpPr>
          <p:cNvPr id="15" name="TextBox 14"/>
          <p:cNvSpPr txBox="1"/>
          <p:nvPr/>
        </p:nvSpPr>
        <p:spPr>
          <a:xfrm>
            <a:off x="3063239" y="5084064"/>
            <a:ext cx="8275319" cy="914400"/>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Chips that make about 3,000 times fewer mistakes.</a:t>
            </a:r>
          </a:p>
        </p:txBody>
      </p:sp>
      <p:sp>
        <p:nvSpPr>
          <p:cNvPr id="16" name="TextBox 15"/>
          <p:cNvSpPr txBox="1"/>
          <p:nvPr/>
        </p:nvSpPr>
        <p:spPr>
          <a:xfrm>
            <a:off x="640080" y="6400800"/>
            <a:ext cx="5486400" cy="274320"/>
          </a:xfrm>
          <a:prstGeom prst="rect">
            <a:avLst/>
          </a:prstGeom>
          <a:noFill/>
        </p:spPr>
        <p:txBody>
          <a:bodyPr wrap="square" anchor="t" lIns="45720" rIns="45720" tIns="27432" bIns="27432">
            <a:spAutoFit/>
          </a:bodyPr>
          <a:lstStyle/>
          <a:p>
            <a:pPr algn="l">
              <a:lnSpc>
                <a:spcPct val="105000"/>
              </a:lnSpc>
            </a:pPr>
            <a:r>
              <a:rPr sz="1200" b="0">
                <a:solidFill>
                  <a:srgbClr val="587063"/>
                </a:solidFill>
                <a:latin typeface="Calibri"/>
              </a:rPr>
              <a:t>Qanopy · Carbon credit verification</a:t>
            </a:r>
          </a:p>
        </p:txBody>
      </p:sp>
      <p:sp>
        <p:nvSpPr>
          <p:cNvPr id="17" name="TextBox 16"/>
          <p:cNvSpPr txBox="1"/>
          <p:nvPr/>
        </p:nvSpPr>
        <p:spPr>
          <a:xfrm>
            <a:off x="10881360" y="6400800"/>
            <a:ext cx="731520" cy="274320"/>
          </a:xfrm>
          <a:prstGeom prst="rect">
            <a:avLst/>
          </a:prstGeom>
          <a:noFill/>
        </p:spPr>
        <p:txBody>
          <a:bodyPr wrap="square" anchor="t" lIns="45720" rIns="45720" tIns="27432" bIns="27432">
            <a:spAutoFit/>
          </a:bodyPr>
          <a:lstStyle/>
          <a:p>
            <a:pPr algn="r">
              <a:lnSpc>
                <a:spcPct val="105000"/>
              </a:lnSpc>
            </a:pPr>
            <a:r>
              <a:rPr sz="1200" b="0">
                <a:solidFill>
                  <a:srgbClr val="58706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1188720"/>
          </a:xfrm>
          <a:prstGeom prst="rect">
            <a:avLst/>
          </a:prstGeom>
          <a:noFill/>
        </p:spPr>
        <p:txBody>
          <a:bodyPr wrap="square" anchor="t" lIns="45720" rIns="45720" tIns="27432" bIns="27432">
            <a:spAutoFit/>
          </a:bodyPr>
          <a:lstStyle/>
          <a:p>
            <a:pPr algn="l">
              <a:lnSpc>
                <a:spcPct val="95000"/>
              </a:lnSpc>
            </a:pPr>
            <a:r>
              <a:rPr sz="4000" b="1">
                <a:solidFill>
                  <a:srgbClr val="0C3D2B"/>
                </a:solidFill>
                <a:latin typeface="Calibri"/>
              </a:rPr>
              <a:t>Who would pay for this</a:t>
            </a:r>
          </a:p>
        </p:txBody>
      </p:sp>
      <p:sp>
        <p:nvSpPr>
          <p:cNvPr id="3" name="Rectangle 2"/>
          <p:cNvSpPr/>
          <p:nvPr/>
        </p:nvSpPr>
        <p:spPr>
          <a:xfrm>
            <a:off x="685800" y="1764792"/>
            <a:ext cx="1097280" cy="64008"/>
          </a:xfrm>
          <a:prstGeom prst="rect">
            <a:avLst/>
          </a:prstGeom>
          <a:solidFill>
            <a:srgbClr val="159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011680"/>
            <a:ext cx="10835640" cy="713232"/>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11680"/>
            <a:ext cx="2377440" cy="713232"/>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Who pays</a:t>
            </a:r>
          </a:p>
        </p:txBody>
      </p:sp>
      <p:sp>
        <p:nvSpPr>
          <p:cNvPr id="6" name="TextBox 5"/>
          <p:cNvSpPr txBox="1"/>
          <p:nvPr/>
        </p:nvSpPr>
        <p:spPr>
          <a:xfrm>
            <a:off x="3246120" y="2011680"/>
            <a:ext cx="8092440" cy="713232"/>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Credit buyers, registries, insurers and banks. They need to trust credits.</a:t>
            </a:r>
          </a:p>
        </p:txBody>
      </p:sp>
      <p:sp>
        <p:nvSpPr>
          <p:cNvPr id="7" name="Rectangle 6"/>
          <p:cNvSpPr/>
          <p:nvPr/>
        </p:nvSpPr>
        <p:spPr>
          <a:xfrm>
            <a:off x="685800" y="2834640"/>
            <a:ext cx="10835640" cy="713232"/>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834640"/>
            <a:ext cx="2377440" cy="713232"/>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How</a:t>
            </a:r>
          </a:p>
        </p:txBody>
      </p:sp>
      <p:sp>
        <p:nvSpPr>
          <p:cNvPr id="9" name="TextBox 8"/>
          <p:cNvSpPr txBox="1"/>
          <p:nvPr/>
        </p:nvSpPr>
        <p:spPr>
          <a:xfrm>
            <a:off x="3246120" y="2834640"/>
            <a:ext cx="8092440" cy="713232"/>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A subscription for each project we monitor.</a:t>
            </a:r>
          </a:p>
        </p:txBody>
      </p:sp>
      <p:sp>
        <p:nvSpPr>
          <p:cNvPr id="10" name="Rectangle 9"/>
          <p:cNvSpPr/>
          <p:nvPr/>
        </p:nvSpPr>
        <p:spPr>
          <a:xfrm>
            <a:off x="685800" y="3657600"/>
            <a:ext cx="10835640" cy="713232"/>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57600"/>
            <a:ext cx="2377440" cy="713232"/>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Today</a:t>
            </a:r>
          </a:p>
        </p:txBody>
      </p:sp>
      <p:sp>
        <p:nvSpPr>
          <p:cNvPr id="12" name="TextBox 11"/>
          <p:cNvSpPr txBox="1"/>
          <p:nvPr/>
        </p:nvSpPr>
        <p:spPr>
          <a:xfrm>
            <a:off x="3246120" y="3657600"/>
            <a:ext cx="8092440" cy="713232"/>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Working prototype on 4 projects. NFTs on a test blockchain, not real money.</a:t>
            </a:r>
          </a:p>
        </p:txBody>
      </p:sp>
      <p:sp>
        <p:nvSpPr>
          <p:cNvPr id="13" name="Rectangle 12"/>
          <p:cNvSpPr/>
          <p:nvPr/>
        </p:nvSpPr>
        <p:spPr>
          <a:xfrm>
            <a:off x="685800" y="4480560"/>
            <a:ext cx="10835640" cy="713232"/>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80560"/>
            <a:ext cx="2377440" cy="713232"/>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Built here</a:t>
            </a:r>
          </a:p>
        </p:txBody>
      </p:sp>
      <p:sp>
        <p:nvSpPr>
          <p:cNvPr id="15" name="TextBox 14"/>
          <p:cNvSpPr txBox="1"/>
          <p:nvPr/>
        </p:nvSpPr>
        <p:spPr>
          <a:xfrm>
            <a:off x="3246120" y="4480560"/>
            <a:ext cx="8092440" cy="713232"/>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Quantum tests, weekly monitoring, NFT score, upload page.</a:t>
            </a:r>
          </a:p>
        </p:txBody>
      </p:sp>
      <p:sp>
        <p:nvSpPr>
          <p:cNvPr id="16" name="Rectangle 15"/>
          <p:cNvSpPr/>
          <p:nvPr/>
        </p:nvSpPr>
        <p:spPr>
          <a:xfrm>
            <a:off x="685800" y="5303520"/>
            <a:ext cx="10835640" cy="713232"/>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303520"/>
            <a:ext cx="2377440" cy="713232"/>
          </a:xfrm>
          <a:prstGeom prst="rect">
            <a:avLst/>
          </a:prstGeom>
          <a:noFill/>
        </p:spPr>
        <p:txBody>
          <a:bodyPr wrap="square" anchor="ctr" lIns="45720" rIns="45720" tIns="27432" bIns="27432">
            <a:spAutoFit/>
          </a:bodyPr>
          <a:lstStyle/>
          <a:p>
            <a:pPr algn="l">
              <a:lnSpc>
                <a:spcPct val="105000"/>
              </a:lnSpc>
            </a:pPr>
            <a:r>
              <a:rPr sz="2200" b="1">
                <a:solidFill>
                  <a:srgbClr val="0C3D2B"/>
                </a:solidFill>
                <a:latin typeface="Calibri"/>
              </a:rPr>
              <a:t>Next</a:t>
            </a:r>
          </a:p>
        </p:txBody>
      </p:sp>
      <p:sp>
        <p:nvSpPr>
          <p:cNvPr id="18" name="TextBox 17"/>
          <p:cNvSpPr txBox="1"/>
          <p:nvPr/>
        </p:nvSpPr>
        <p:spPr>
          <a:xfrm>
            <a:off x="3246120" y="5303520"/>
            <a:ext cx="8092440" cy="713232"/>
          </a:xfrm>
          <a:prstGeom prst="rect">
            <a:avLst/>
          </a:prstGeom>
          <a:noFill/>
        </p:spPr>
        <p:txBody>
          <a:bodyPr wrap="square" anchor="ctr" lIns="45720" rIns="45720" tIns="27432" bIns="27432">
            <a:spAutoFit/>
          </a:bodyPr>
          <a:lstStyle/>
          <a:p>
            <a:pPr algn="l">
              <a:lnSpc>
                <a:spcPct val="100000"/>
              </a:lnSpc>
            </a:pPr>
            <a:r>
              <a:rPr sz="2000" b="0">
                <a:solidFill>
                  <a:srgbClr val="0F2419"/>
                </a:solidFill>
                <a:latin typeface="Calibri"/>
              </a:rPr>
              <a:t>Use real carbon data from each project instead of our guess.</a:t>
            </a:r>
          </a:p>
        </p:txBody>
      </p:sp>
      <p:sp>
        <p:nvSpPr>
          <p:cNvPr id="19" name="TextBox 18"/>
          <p:cNvSpPr txBox="1"/>
          <p:nvPr/>
        </p:nvSpPr>
        <p:spPr>
          <a:xfrm>
            <a:off x="685800" y="5989320"/>
            <a:ext cx="10835640" cy="365760"/>
          </a:xfrm>
          <a:prstGeom prst="rect">
            <a:avLst/>
          </a:prstGeom>
          <a:noFill/>
        </p:spPr>
        <p:txBody>
          <a:bodyPr wrap="square" anchor="t" lIns="45720" rIns="45720" tIns="27432" bIns="27432">
            <a:spAutoFit/>
          </a:bodyPr>
          <a:lstStyle/>
          <a:p>
            <a:pPr algn="l">
              <a:lnSpc>
                <a:spcPct val="105000"/>
              </a:lnSpc>
            </a:pPr>
            <a:r>
              <a:rPr sz="1500" b="0">
                <a:solidFill>
                  <a:srgbClr val="587063"/>
                </a:solidFill>
                <a:latin typeface="Calibri"/>
              </a:rPr>
              <a:t>Built with: Google Earth Engine, radar satellite data, Qiskit, IBM Quantum, Base Sepolia, IPFS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
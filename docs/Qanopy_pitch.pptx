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carbon credit is a claim about a forest that was never cut down. A claim about something that did not happen. So who checks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credit pays for forest saved compared with what would have happened anyway. That baseline comes from project paperwork, and it is checked in periodic audits. A buyer or a bank cannot tell a good credit from a bad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Qanopy gives any carbon project a public weekly verdict. Upload the project boundary. We find fifty forest parcels that look like it, and watch both with satellite radar every week. The gap is the forest the project really saved. We turn it into tons of CO2, compare it with the claim, and publish a five-level status as an NFT anyone can check. It already runs on four projects.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dashboard for ALGAR in Brazil. The project lost half a percent of its forest, the matched parcels four and a half. That is about six thousand hectares kept standing, thirty-one percent of its claim to date, so the status is Worst. We treat that as a signal to investigate, not a verdict.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is in the solution, in practice and in theory. In practice: we ran parcel selection on IBM's 156-qubit Fez. On a small, favourable problem it found the best set about seventy percent of the time, against under two percent at random. In theory: amplitude estimation, simulated, is nearly ten times tighter than classical sampling at the same budget. The catch, which we show openly: classical wins at every size we can run today, and the advantage needs gates three thousand times better. It pays off at market scale, thousands of projects, refreshed weekly. The pipeline is quantum-ready for that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pays? Anyone who has to trust a credit: buyers, registries, insurers and banks, as a subscription per monitored project. Today it is a working prototype on four projects. Next: real carbon data, validation against audited projects, and quantum as hardware allows.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the parcel-matching engine. At the event we added quantum selection on IBM hardware, weekly radar monitoring, the CO2 estimate, the NFT status and an upload-a-project dashboard. Trust in carbon credits, checked every week.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15600" cy="2926080"/>
          </a:xfrm>
          <a:prstGeom prst="rect">
            <a:avLst/>
          </a:prstGeom>
          <a:noFill/>
        </p:spPr>
        <p:txBody>
          <a:bodyPr wrap="square" anchor="t" lIns="45720" rIns="45720" tIns="27432" bIns="27432">
            <a:spAutoFit/>
          </a:bodyPr>
          <a:lstStyle/>
          <a:p>
            <a:pPr algn="l">
              <a:lnSpc>
                <a:spcPct val="95000"/>
              </a:lnSpc>
            </a:pPr>
            <a:r>
              <a:rPr sz="5400" b="1">
                <a:solidFill>
                  <a:srgbClr val="FFFFFF"/>
                </a:solidFill>
                <a:latin typeface="Calibri"/>
              </a:rPr>
              <a:t>Every carbon credit is a claim about a forest that didn't get cut down.</a:t>
            </a:r>
          </a:p>
        </p:txBody>
      </p:sp>
      <p:sp>
        <p:nvSpPr>
          <p:cNvPr id="4" name="TextBox 3"/>
          <p:cNvSpPr txBox="1"/>
          <p:nvPr/>
        </p:nvSpPr>
        <p:spPr>
          <a:xfrm>
            <a:off x="822960" y="4480560"/>
            <a:ext cx="10058400" cy="822960"/>
          </a:xfrm>
          <a:prstGeom prst="rect">
            <a:avLst/>
          </a:prstGeom>
          <a:noFill/>
        </p:spPr>
        <p:txBody>
          <a:bodyPr wrap="square" anchor="t" lIns="45720" rIns="45720" tIns="27432" bIns="27432">
            <a:spAutoFit/>
          </a:bodyPr>
          <a:lstStyle/>
          <a:p>
            <a:pPr algn="l">
              <a:lnSpc>
                <a:spcPct val="105000"/>
              </a:lnSpc>
            </a:pPr>
            <a:r>
              <a:rPr sz="4400" b="1">
                <a:solidFill>
                  <a:srgbClr val="4ADE9B"/>
                </a:solidFill>
                <a:latin typeface="Calibri"/>
              </a:rPr>
              <a:t>Who checks?</a:t>
            </a:r>
          </a:p>
        </p:txBody>
      </p:sp>
      <p:sp>
        <p:nvSpPr>
          <p:cNvPr id="5" name="TextBox 4"/>
          <p:cNvSpPr txBox="1"/>
          <p:nvPr/>
        </p:nvSpPr>
        <p:spPr>
          <a:xfrm>
            <a:off x="822960" y="5943600"/>
            <a:ext cx="10058400" cy="365760"/>
          </a:xfrm>
          <a:prstGeom prst="rect">
            <a:avLst/>
          </a:prstGeom>
          <a:noFill/>
        </p:spPr>
        <p:txBody>
          <a:bodyPr wrap="square" anchor="t" lIns="45720" rIns="45720" tIns="27432" bIns="27432">
            <a:spAutoFit/>
          </a:bodyPr>
          <a:lstStyle/>
          <a:p>
            <a:pPr algn="l">
              <a:lnSpc>
                <a:spcPct val="105000"/>
              </a:lnSpc>
            </a:pPr>
            <a:r>
              <a:rPr sz="1600" b="0">
                <a:solidFill>
                  <a:srgbClr val="B5D3C4"/>
                </a:solidFill>
                <a:latin typeface="Calibri"/>
              </a:rPr>
              <a:t>Qanopy · Quantum x Finance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Credits are sold on a baseline nobody can watch</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48840"/>
            <a:ext cx="10835640" cy="8686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48840"/>
            <a:ext cx="2926080" cy="868680"/>
          </a:xfrm>
          <a:prstGeom prst="rect">
            <a:avLst/>
          </a:prstGeom>
          <a:noFill/>
        </p:spPr>
        <p:txBody>
          <a:bodyPr wrap="square" anchor="ctr" lIns="45720" rIns="45720" tIns="27432" bIns="27432">
            <a:spAutoFit/>
          </a:bodyPr>
          <a:lstStyle/>
          <a:p>
            <a:pPr algn="l">
              <a:lnSpc>
                <a:spcPct val="105000"/>
              </a:lnSpc>
            </a:pPr>
            <a:r>
              <a:rPr sz="2600" b="1">
                <a:solidFill>
                  <a:srgbClr val="0C3D2B"/>
                </a:solidFill>
                <a:latin typeface="Calibri"/>
              </a:rPr>
              <a:t>The credit</a:t>
            </a:r>
          </a:p>
        </p:txBody>
      </p:sp>
      <p:sp>
        <p:nvSpPr>
          <p:cNvPr id="6" name="TextBox 5"/>
          <p:cNvSpPr txBox="1"/>
          <p:nvPr/>
        </p:nvSpPr>
        <p:spPr>
          <a:xfrm>
            <a:off x="3840480" y="2148840"/>
            <a:ext cx="7589520" cy="868680"/>
          </a:xfrm>
          <a:prstGeom prst="rect">
            <a:avLst/>
          </a:prstGeom>
          <a:noFill/>
        </p:spPr>
        <p:txBody>
          <a:bodyPr wrap="square" anchor="ctr" lIns="45720" rIns="45720" tIns="27432" bIns="27432">
            <a:spAutoFit/>
          </a:bodyPr>
          <a:lstStyle/>
          <a:p>
            <a:pPr algn="l">
              <a:lnSpc>
                <a:spcPct val="105000"/>
              </a:lnSpc>
            </a:pPr>
            <a:r>
              <a:rPr sz="2400" b="0">
                <a:solidFill>
                  <a:srgbClr val="0F2419"/>
                </a:solidFill>
                <a:latin typeface="Calibri"/>
              </a:rPr>
              <a:t>Forest saved compared with what would have happened anyway</a:t>
            </a:r>
          </a:p>
        </p:txBody>
      </p:sp>
      <p:sp>
        <p:nvSpPr>
          <p:cNvPr id="7" name="Rectangle 6"/>
          <p:cNvSpPr/>
          <p:nvPr/>
        </p:nvSpPr>
        <p:spPr>
          <a:xfrm>
            <a:off x="685800" y="3172968"/>
            <a:ext cx="10835640" cy="8686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172968"/>
            <a:ext cx="2926080" cy="868680"/>
          </a:xfrm>
          <a:prstGeom prst="rect">
            <a:avLst/>
          </a:prstGeom>
          <a:noFill/>
        </p:spPr>
        <p:txBody>
          <a:bodyPr wrap="square" anchor="ctr" lIns="45720" rIns="45720" tIns="27432" bIns="27432">
            <a:spAutoFit/>
          </a:bodyPr>
          <a:lstStyle/>
          <a:p>
            <a:pPr algn="l">
              <a:lnSpc>
                <a:spcPct val="105000"/>
              </a:lnSpc>
            </a:pPr>
            <a:r>
              <a:rPr sz="2600" b="1">
                <a:solidFill>
                  <a:srgbClr val="0C3D2B"/>
                </a:solidFill>
                <a:latin typeface="Calibri"/>
              </a:rPr>
              <a:t>The baseline</a:t>
            </a:r>
          </a:p>
        </p:txBody>
      </p:sp>
      <p:sp>
        <p:nvSpPr>
          <p:cNvPr id="9" name="TextBox 8"/>
          <p:cNvSpPr txBox="1"/>
          <p:nvPr/>
        </p:nvSpPr>
        <p:spPr>
          <a:xfrm>
            <a:off x="3840480" y="3172968"/>
            <a:ext cx="7589520" cy="868680"/>
          </a:xfrm>
          <a:prstGeom prst="rect">
            <a:avLst/>
          </a:prstGeom>
          <a:noFill/>
        </p:spPr>
        <p:txBody>
          <a:bodyPr wrap="square" anchor="ctr" lIns="45720" rIns="45720" tIns="27432" bIns="27432">
            <a:spAutoFit/>
          </a:bodyPr>
          <a:lstStyle/>
          <a:p>
            <a:pPr algn="l">
              <a:lnSpc>
                <a:spcPct val="105000"/>
              </a:lnSpc>
            </a:pPr>
            <a:r>
              <a:rPr sz="2400" b="0">
                <a:solidFill>
                  <a:srgbClr val="0F2419"/>
                </a:solidFill>
                <a:latin typeface="Calibri"/>
              </a:rPr>
              <a:t>Comes from project paperwork, not from the forest next door</a:t>
            </a:r>
          </a:p>
        </p:txBody>
      </p:sp>
      <p:sp>
        <p:nvSpPr>
          <p:cNvPr id="10" name="Rectangle 9"/>
          <p:cNvSpPr/>
          <p:nvPr/>
        </p:nvSpPr>
        <p:spPr>
          <a:xfrm>
            <a:off x="685800" y="4197096"/>
            <a:ext cx="10835640" cy="8686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197096"/>
            <a:ext cx="2926080" cy="868680"/>
          </a:xfrm>
          <a:prstGeom prst="rect">
            <a:avLst/>
          </a:prstGeom>
          <a:noFill/>
        </p:spPr>
        <p:txBody>
          <a:bodyPr wrap="square" anchor="ctr" lIns="45720" rIns="45720" tIns="27432" bIns="27432">
            <a:spAutoFit/>
          </a:bodyPr>
          <a:lstStyle/>
          <a:p>
            <a:pPr algn="l">
              <a:lnSpc>
                <a:spcPct val="105000"/>
              </a:lnSpc>
            </a:pPr>
            <a:r>
              <a:rPr sz="2600" b="1">
                <a:solidFill>
                  <a:srgbClr val="0C3D2B"/>
                </a:solidFill>
                <a:latin typeface="Calibri"/>
              </a:rPr>
              <a:t>The checking</a:t>
            </a:r>
          </a:p>
        </p:txBody>
      </p:sp>
      <p:sp>
        <p:nvSpPr>
          <p:cNvPr id="12" name="TextBox 11"/>
          <p:cNvSpPr txBox="1"/>
          <p:nvPr/>
        </p:nvSpPr>
        <p:spPr>
          <a:xfrm>
            <a:off x="3840480" y="4197096"/>
            <a:ext cx="7589520" cy="868680"/>
          </a:xfrm>
          <a:prstGeom prst="rect">
            <a:avLst/>
          </a:prstGeom>
          <a:noFill/>
        </p:spPr>
        <p:txBody>
          <a:bodyPr wrap="square" anchor="ctr" lIns="45720" rIns="45720" tIns="27432" bIns="27432">
            <a:spAutoFit/>
          </a:bodyPr>
          <a:lstStyle/>
          <a:p>
            <a:pPr algn="l">
              <a:lnSpc>
                <a:spcPct val="105000"/>
              </a:lnSpc>
            </a:pPr>
            <a:r>
              <a:rPr sz="2400" b="0">
                <a:solidFill>
                  <a:srgbClr val="0F2419"/>
                </a:solidFill>
                <a:latin typeface="Calibri"/>
              </a:rPr>
              <a:t>Periodic audits, not weekly evidence</a:t>
            </a:r>
          </a:p>
        </p:txBody>
      </p:sp>
      <p:sp>
        <p:nvSpPr>
          <p:cNvPr id="13" name="Rectangle 12"/>
          <p:cNvSpPr/>
          <p:nvPr/>
        </p:nvSpPr>
        <p:spPr>
          <a:xfrm>
            <a:off x="685800" y="5221224"/>
            <a:ext cx="10835640" cy="8686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5221224"/>
            <a:ext cx="2926080" cy="868680"/>
          </a:xfrm>
          <a:prstGeom prst="rect">
            <a:avLst/>
          </a:prstGeom>
          <a:noFill/>
        </p:spPr>
        <p:txBody>
          <a:bodyPr wrap="square" anchor="ctr" lIns="45720" rIns="45720" tIns="27432" bIns="27432">
            <a:spAutoFit/>
          </a:bodyPr>
          <a:lstStyle/>
          <a:p>
            <a:pPr algn="l">
              <a:lnSpc>
                <a:spcPct val="105000"/>
              </a:lnSpc>
            </a:pPr>
            <a:r>
              <a:rPr sz="2600" b="1">
                <a:solidFill>
                  <a:srgbClr val="0C3D2B"/>
                </a:solidFill>
                <a:latin typeface="Calibri"/>
              </a:rPr>
              <a:t>The buyer</a:t>
            </a:r>
          </a:p>
        </p:txBody>
      </p:sp>
      <p:sp>
        <p:nvSpPr>
          <p:cNvPr id="15" name="TextBox 14"/>
          <p:cNvSpPr txBox="1"/>
          <p:nvPr/>
        </p:nvSpPr>
        <p:spPr>
          <a:xfrm>
            <a:off x="3840480" y="5221224"/>
            <a:ext cx="7589520" cy="868680"/>
          </a:xfrm>
          <a:prstGeom prst="rect">
            <a:avLst/>
          </a:prstGeom>
          <a:noFill/>
        </p:spPr>
        <p:txBody>
          <a:bodyPr wrap="square" anchor="ctr" lIns="45720" rIns="45720" tIns="27432" bIns="27432">
            <a:spAutoFit/>
          </a:bodyPr>
          <a:lstStyle/>
          <a:p>
            <a:pPr algn="l">
              <a:lnSpc>
                <a:spcPct val="105000"/>
              </a:lnSpc>
            </a:pPr>
            <a:r>
              <a:rPr sz="2400" b="0">
                <a:solidFill>
                  <a:srgbClr val="0F2419"/>
                </a:solidFill>
                <a:latin typeface="Calibri"/>
              </a:rPr>
              <a:t>Cannot tell a good credit from a bad one</a:t>
            </a:r>
          </a:p>
        </p:txBody>
      </p:sp>
      <p:sp>
        <p:nvSpPr>
          <p:cNvPr id="16" name="TextBox 15"/>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7" name="TextBox 16"/>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A public, weekly verdict on any carbon project</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entagon 3"/>
          <p:cNvSpPr/>
          <p:nvPr/>
        </p:nvSpPr>
        <p:spPr>
          <a:xfrm>
            <a:off x="685800" y="2286000"/>
            <a:ext cx="2057400" cy="182880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42316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Upload</a:t>
            </a:r>
          </a:p>
        </p:txBody>
      </p:sp>
      <p:sp>
        <p:nvSpPr>
          <p:cNvPr id="6" name="TextBox 5"/>
          <p:cNvSpPr txBox="1"/>
          <p:nvPr/>
        </p:nvSpPr>
        <p:spPr>
          <a:xfrm>
            <a:off x="822960" y="3017520"/>
            <a:ext cx="1600200" cy="100584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the project
boundary</a:t>
            </a:r>
          </a:p>
        </p:txBody>
      </p:sp>
      <p:sp>
        <p:nvSpPr>
          <p:cNvPr id="7" name="Pentagon 6"/>
          <p:cNvSpPr/>
          <p:nvPr/>
        </p:nvSpPr>
        <p:spPr>
          <a:xfrm>
            <a:off x="2880360" y="2286000"/>
            <a:ext cx="2057400" cy="182880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242316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Match</a:t>
            </a:r>
          </a:p>
        </p:txBody>
      </p:sp>
      <p:sp>
        <p:nvSpPr>
          <p:cNvPr id="9" name="TextBox 8"/>
          <p:cNvSpPr txBox="1"/>
          <p:nvPr/>
        </p:nvSpPr>
        <p:spPr>
          <a:xfrm>
            <a:off x="3017520" y="3017520"/>
            <a:ext cx="1600200" cy="100584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50 similar forest
parcels</a:t>
            </a:r>
          </a:p>
        </p:txBody>
      </p:sp>
      <p:sp>
        <p:nvSpPr>
          <p:cNvPr id="10" name="Pentagon 9"/>
          <p:cNvSpPr/>
          <p:nvPr/>
        </p:nvSpPr>
        <p:spPr>
          <a:xfrm>
            <a:off x="5074920" y="2286000"/>
            <a:ext cx="2057400" cy="182880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0" y="242316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Watch</a:t>
            </a:r>
          </a:p>
        </p:txBody>
      </p:sp>
      <p:sp>
        <p:nvSpPr>
          <p:cNvPr id="12" name="TextBox 11"/>
          <p:cNvSpPr txBox="1"/>
          <p:nvPr/>
        </p:nvSpPr>
        <p:spPr>
          <a:xfrm>
            <a:off x="5212080" y="3017520"/>
            <a:ext cx="1600200" cy="100584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weekly satellite
radar alerts</a:t>
            </a:r>
          </a:p>
        </p:txBody>
      </p:sp>
      <p:sp>
        <p:nvSpPr>
          <p:cNvPr id="13" name="Pentagon 12"/>
          <p:cNvSpPr/>
          <p:nvPr/>
        </p:nvSpPr>
        <p:spPr>
          <a:xfrm>
            <a:off x="7269479" y="2286000"/>
            <a:ext cx="2057400" cy="182880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0" y="242316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Compare</a:t>
            </a:r>
          </a:p>
        </p:txBody>
      </p:sp>
      <p:sp>
        <p:nvSpPr>
          <p:cNvPr id="15" name="TextBox 14"/>
          <p:cNvSpPr txBox="1"/>
          <p:nvPr/>
        </p:nvSpPr>
        <p:spPr>
          <a:xfrm>
            <a:off x="7406640" y="3017520"/>
            <a:ext cx="1600200" cy="100584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avoided loss in
tons of CO2e</a:t>
            </a:r>
          </a:p>
        </p:txBody>
      </p:sp>
      <p:sp>
        <p:nvSpPr>
          <p:cNvPr id="16" name="Pentagon 15"/>
          <p:cNvSpPr/>
          <p:nvPr/>
        </p:nvSpPr>
        <p:spPr>
          <a:xfrm>
            <a:off x="9464040" y="2286000"/>
            <a:ext cx="2057400" cy="1828800"/>
          </a:xfrm>
          <a:prstGeom prst="homePlate">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0" y="242316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Publish</a:t>
            </a:r>
          </a:p>
        </p:txBody>
      </p:sp>
      <p:sp>
        <p:nvSpPr>
          <p:cNvPr id="18" name="TextBox 17"/>
          <p:cNvSpPr txBox="1"/>
          <p:nvPr/>
        </p:nvSpPr>
        <p:spPr>
          <a:xfrm>
            <a:off x="9601200" y="3017520"/>
            <a:ext cx="1600200" cy="100584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five-level status
as an NFT</a:t>
            </a:r>
          </a:p>
        </p:txBody>
      </p:sp>
      <p:sp>
        <p:nvSpPr>
          <p:cNvPr id="19" name="TextBox 18"/>
          <p:cNvSpPr txBox="1"/>
          <p:nvPr/>
        </p:nvSpPr>
        <p:spPr>
          <a:xfrm>
            <a:off x="685800" y="4572000"/>
            <a:ext cx="10789920" cy="1463040"/>
          </a:xfrm>
          <a:prstGeom prst="rect">
            <a:avLst/>
          </a:prstGeom>
          <a:noFill/>
        </p:spPr>
        <p:txBody>
          <a:bodyPr wrap="square" anchor="t" lIns="45720" rIns="45720" tIns="27432" bIns="27432">
            <a:spAutoFit/>
          </a:bodyPr>
          <a:lstStyle/>
          <a:p>
            <a:pPr algn="l">
              <a:lnSpc>
                <a:spcPct val="115000"/>
              </a:lnSpc>
            </a:pPr>
            <a:r>
              <a:rPr sz="2200" b="1">
                <a:solidFill>
                  <a:srgbClr val="0C3D2B"/>
                </a:solidFill>
                <a:latin typeface="Calibri"/>
              </a:rPr>
              <a:t>Works for any project: </a:t>
            </a:r>
            <a:r>
              <a:rPr sz="2200" b="0">
                <a:solidFill>
                  <a:srgbClr val="0F2419"/>
                </a:solidFill>
                <a:latin typeface="Calibri"/>
              </a:rPr>
              <a:t>upload a KML file in the dashboard, no code. Four projects so far: two in Brazil, Cambodia and Bolivia.</a:t>
            </a:r>
          </a:p>
          <a:p>
            <a:pPr algn="l">
              <a:lnSpc>
                <a:spcPct val="115000"/>
              </a:lnSpc>
            </a:pPr>
            <a:r>
              <a:rPr sz="2200" b="1">
                <a:solidFill>
                  <a:srgbClr val="0C3D2B"/>
                </a:solidFill>
                <a:latin typeface="Calibri"/>
              </a:rPr>
              <a:t>Trust built in: </a:t>
            </a:r>
            <a:r>
              <a:rPr sz="2200" b="0">
                <a:solidFill>
                  <a:srgbClr val="0F2419"/>
                </a:solidFill>
                <a:latin typeface="Calibri"/>
              </a:rPr>
              <a:t>the 50 parcels are frozen with a hash, so the comparison cannot be changed afterwards.</a:t>
            </a:r>
          </a:p>
        </p:txBody>
      </p:sp>
      <p:sp>
        <p:nvSpPr>
          <p:cNvPr id="20" name="TextBox 19"/>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21" name="TextBox 20"/>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881360" cy="1188720"/>
          </a:xfrm>
          <a:prstGeom prst="rect">
            <a:avLst/>
          </a:prstGeom>
          <a:noFill/>
        </p:spPr>
        <p:txBody>
          <a:bodyPr wrap="square" anchor="t" lIns="45720" rIns="45720" tIns="27432" bIns="27432">
            <a:spAutoFit/>
          </a:bodyPr>
          <a:lstStyle/>
          <a:p>
            <a:pPr algn="l">
              <a:lnSpc>
                <a:spcPct val="95000"/>
              </a:lnSpc>
            </a:pPr>
            <a:r>
              <a:rPr sz="3600" b="1">
                <a:solidFill>
                  <a:srgbClr val="0C3D2B"/>
                </a:solidFill>
                <a:latin typeface="Calibri"/>
              </a:rPr>
              <a:t>Live demo: ALGAR, Brazil</a:t>
            </a:r>
          </a:p>
        </p:txBody>
      </p:sp>
      <p:sp>
        <p:nvSpPr>
          <p:cNvPr id="3" name="Rectangle 2"/>
          <p:cNvSpPr/>
          <p:nvPr/>
        </p:nvSpPr>
        <p:spPr>
          <a:xfrm>
            <a:off x="685800" y="109728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_hero_c.png"/>
          <p:cNvPicPr>
            <a:picLocks noChangeAspect="1"/>
          </p:cNvPicPr>
          <p:nvPr/>
        </p:nvPicPr>
        <p:blipFill>
          <a:blip r:embed="rId3"/>
          <a:stretch>
            <a:fillRect/>
          </a:stretch>
        </p:blipFill>
        <p:spPr>
          <a:xfrm>
            <a:off x="1280160" y="1463040"/>
            <a:ext cx="9601200" cy="4200525"/>
          </a:xfrm>
          <a:prstGeom prst="rect">
            <a:avLst/>
          </a:prstGeom>
        </p:spPr>
      </p:pic>
      <p:sp>
        <p:nvSpPr>
          <p:cNvPr id="5" name="TextBox 4"/>
          <p:cNvSpPr txBox="1"/>
          <p:nvPr/>
        </p:nvSpPr>
        <p:spPr>
          <a:xfrm>
            <a:off x="685800" y="5852160"/>
            <a:ext cx="10835640" cy="548640"/>
          </a:xfrm>
          <a:prstGeom prst="rect">
            <a:avLst/>
          </a:prstGeom>
          <a:noFill/>
        </p:spPr>
        <p:txBody>
          <a:bodyPr wrap="square" anchor="t" lIns="45720" rIns="45720" tIns="27432" bIns="27432">
            <a:spAutoFit/>
          </a:bodyPr>
          <a:lstStyle/>
          <a:p>
            <a:pPr algn="l">
              <a:lnSpc>
                <a:spcPct val="105000"/>
              </a:lnSpc>
            </a:pPr>
            <a:r>
              <a:rPr sz="2000" b="1">
                <a:solidFill>
                  <a:srgbClr val="0C3D2B"/>
                </a:solidFill>
                <a:latin typeface="Calibri"/>
              </a:rPr>
              <a:t>31% of the claim so far. </a:t>
            </a:r>
            <a:r>
              <a:rPr sz="2000" b="0">
                <a:solidFill>
                  <a:srgbClr val="0F2419"/>
                </a:solidFill>
                <a:latin typeface="Calibri"/>
              </a:rPr>
              <a:t>A signal to investigate, not a verdict.</a:t>
            </a:r>
          </a:p>
        </p:txBody>
      </p:sp>
      <p:sp>
        <p:nvSpPr>
          <p:cNvPr id="6" name="TextBox 5"/>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7" name="TextBox 6"/>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Quantum: tested on real hardware, honest about the timeline</a:t>
            </a:r>
          </a:p>
        </p:txBody>
      </p:sp>
      <p:sp>
        <p:nvSpPr>
          <p:cNvPr id="3" name="Rectangle 2"/>
          <p:cNvSpPr/>
          <p:nvPr/>
        </p:nvSpPr>
        <p:spPr>
          <a:xfrm>
            <a:off x="685800" y="1673351"/>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03120"/>
            <a:ext cx="3474720" cy="30175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94560"/>
            <a:ext cx="3108960" cy="502920"/>
          </a:xfrm>
          <a:prstGeom prst="rect">
            <a:avLst/>
          </a:prstGeom>
          <a:noFill/>
        </p:spPr>
        <p:txBody>
          <a:bodyPr wrap="square" anchor="t" lIns="45720" rIns="45720" tIns="27432" bIns="27432">
            <a:spAutoFit/>
          </a:bodyPr>
          <a:lstStyle/>
          <a:p>
            <a:pPr algn="l">
              <a:lnSpc>
                <a:spcPct val="105000"/>
              </a:lnSpc>
            </a:pPr>
            <a:r>
              <a:rPr sz="2800" b="1">
                <a:solidFill>
                  <a:srgbClr val="0C3D2B"/>
                </a:solidFill>
                <a:latin typeface="Calibri"/>
              </a:rPr>
              <a:t>In practice</a:t>
            </a:r>
          </a:p>
        </p:txBody>
      </p:sp>
      <p:sp>
        <p:nvSpPr>
          <p:cNvPr id="6" name="TextBox 5"/>
          <p:cNvSpPr txBox="1"/>
          <p:nvPr/>
        </p:nvSpPr>
        <p:spPr>
          <a:xfrm>
            <a:off x="868680" y="2697480"/>
            <a:ext cx="3108960" cy="411480"/>
          </a:xfrm>
          <a:prstGeom prst="rect">
            <a:avLst/>
          </a:prstGeom>
          <a:noFill/>
        </p:spPr>
        <p:txBody>
          <a:bodyPr wrap="square" anchor="t" lIns="45720" rIns="45720" tIns="27432" bIns="27432">
            <a:spAutoFit/>
          </a:bodyPr>
          <a:lstStyle/>
          <a:p>
            <a:pPr algn="l">
              <a:lnSpc>
                <a:spcPct val="105000"/>
              </a:lnSpc>
            </a:pPr>
            <a:r>
              <a:rPr sz="1800" b="1">
                <a:solidFill>
                  <a:srgbClr val="587063"/>
                </a:solidFill>
                <a:latin typeface="Calibri"/>
              </a:rPr>
              <a:t>IBM Fez, 156 qubits</a:t>
            </a:r>
          </a:p>
        </p:txBody>
      </p:sp>
      <p:sp>
        <p:nvSpPr>
          <p:cNvPr id="7" name="TextBox 6"/>
          <p:cNvSpPr txBox="1"/>
          <p:nvPr/>
        </p:nvSpPr>
        <p:spPr>
          <a:xfrm>
            <a:off x="868680" y="3200400"/>
            <a:ext cx="3154680" cy="1920240"/>
          </a:xfrm>
          <a:prstGeom prst="rect">
            <a:avLst/>
          </a:prstGeom>
          <a:noFill/>
        </p:spPr>
        <p:txBody>
          <a:bodyPr wrap="square" anchor="t" lIns="45720" rIns="45720" tIns="27432" bIns="27432">
            <a:spAutoFit/>
          </a:bodyPr>
          <a:lstStyle/>
          <a:p>
            <a:pPr algn="l">
              <a:lnSpc>
                <a:spcPct val="110000"/>
              </a:lnSpc>
            </a:pPr>
            <a:r>
              <a:rPr sz="1900" b="0">
                <a:solidFill>
                  <a:srgbClr val="0F2419"/>
                </a:solidFill>
                <a:latin typeface="Calibri"/>
              </a:rPr>
              <a:t>QAOA picks parcels. On a small, favourable 8-parcel problem it found the best set ~71% of the time. Random: 1.8%.</a:t>
            </a:r>
          </a:p>
        </p:txBody>
      </p:sp>
      <p:sp>
        <p:nvSpPr>
          <p:cNvPr id="8" name="Rectangle 7"/>
          <p:cNvSpPr/>
          <p:nvPr/>
        </p:nvSpPr>
        <p:spPr>
          <a:xfrm>
            <a:off x="4343400" y="2103120"/>
            <a:ext cx="3474720" cy="30175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2194560"/>
            <a:ext cx="3108960" cy="502920"/>
          </a:xfrm>
          <a:prstGeom prst="rect">
            <a:avLst/>
          </a:prstGeom>
          <a:noFill/>
        </p:spPr>
        <p:txBody>
          <a:bodyPr wrap="square" anchor="t" lIns="45720" rIns="45720" tIns="27432" bIns="27432">
            <a:spAutoFit/>
          </a:bodyPr>
          <a:lstStyle/>
          <a:p>
            <a:pPr algn="l">
              <a:lnSpc>
                <a:spcPct val="105000"/>
              </a:lnSpc>
            </a:pPr>
            <a:r>
              <a:rPr sz="2800" b="1">
                <a:solidFill>
                  <a:srgbClr val="0C3D2B"/>
                </a:solidFill>
                <a:latin typeface="Calibri"/>
              </a:rPr>
              <a:t>In theory</a:t>
            </a:r>
          </a:p>
        </p:txBody>
      </p:sp>
      <p:sp>
        <p:nvSpPr>
          <p:cNvPr id="10" name="TextBox 9"/>
          <p:cNvSpPr txBox="1"/>
          <p:nvPr/>
        </p:nvSpPr>
        <p:spPr>
          <a:xfrm>
            <a:off x="4526280" y="2697480"/>
            <a:ext cx="3108960" cy="411480"/>
          </a:xfrm>
          <a:prstGeom prst="rect">
            <a:avLst/>
          </a:prstGeom>
          <a:noFill/>
        </p:spPr>
        <p:txBody>
          <a:bodyPr wrap="square" anchor="t" lIns="45720" rIns="45720" tIns="27432" bIns="27432">
            <a:spAutoFit/>
          </a:bodyPr>
          <a:lstStyle/>
          <a:p>
            <a:pPr algn="l">
              <a:lnSpc>
                <a:spcPct val="105000"/>
              </a:lnSpc>
            </a:pPr>
            <a:r>
              <a:rPr sz="1800" b="1">
                <a:solidFill>
                  <a:srgbClr val="587063"/>
                </a:solidFill>
                <a:latin typeface="Calibri"/>
              </a:rPr>
              <a:t>Amplitude estimation</a:t>
            </a:r>
          </a:p>
        </p:txBody>
      </p:sp>
      <p:sp>
        <p:nvSpPr>
          <p:cNvPr id="11" name="TextBox 10"/>
          <p:cNvSpPr txBox="1"/>
          <p:nvPr/>
        </p:nvSpPr>
        <p:spPr>
          <a:xfrm>
            <a:off x="4526280" y="3200400"/>
            <a:ext cx="3154680" cy="1920240"/>
          </a:xfrm>
          <a:prstGeom prst="rect">
            <a:avLst/>
          </a:prstGeom>
          <a:noFill/>
        </p:spPr>
        <p:txBody>
          <a:bodyPr wrap="square" anchor="t" lIns="45720" rIns="45720" tIns="27432" bIns="27432">
            <a:spAutoFit/>
          </a:bodyPr>
          <a:lstStyle/>
          <a:p>
            <a:pPr algn="l">
              <a:lnSpc>
                <a:spcPct val="110000"/>
              </a:lnSpc>
            </a:pPr>
            <a:r>
              <a:rPr sz="1900" b="0">
                <a:solidFill>
                  <a:srgbClr val="0F2419"/>
                </a:solidFill>
                <a:latin typeface="Calibri"/>
              </a:rPr>
              <a:t>Simulated: 9.8x tighter than Monte Carlo at the same budget. A proven quadratic speedup.</a:t>
            </a:r>
          </a:p>
        </p:txBody>
      </p:sp>
      <p:sp>
        <p:nvSpPr>
          <p:cNvPr id="12" name="Rectangle 11"/>
          <p:cNvSpPr/>
          <p:nvPr/>
        </p:nvSpPr>
        <p:spPr>
          <a:xfrm>
            <a:off x="8001000" y="2103120"/>
            <a:ext cx="3474720" cy="3017520"/>
          </a:xfrm>
          <a:prstGeom prst="rect">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79" y="2194560"/>
            <a:ext cx="3108960" cy="502920"/>
          </a:xfrm>
          <a:prstGeom prst="rect">
            <a:avLst/>
          </a:prstGeom>
          <a:noFill/>
        </p:spPr>
        <p:txBody>
          <a:bodyPr wrap="square" anchor="t" lIns="45720" rIns="45720" tIns="27432" bIns="27432">
            <a:spAutoFit/>
          </a:bodyPr>
          <a:lstStyle/>
          <a:p>
            <a:pPr algn="l">
              <a:lnSpc>
                <a:spcPct val="105000"/>
              </a:lnSpc>
            </a:pPr>
            <a:r>
              <a:rPr sz="2800" b="1">
                <a:solidFill>
                  <a:srgbClr val="C0392B"/>
                </a:solidFill>
                <a:latin typeface="Calibri"/>
              </a:rPr>
              <a:t>The catch</a:t>
            </a:r>
          </a:p>
        </p:txBody>
      </p:sp>
      <p:sp>
        <p:nvSpPr>
          <p:cNvPr id="14" name="TextBox 13"/>
          <p:cNvSpPr txBox="1"/>
          <p:nvPr/>
        </p:nvSpPr>
        <p:spPr>
          <a:xfrm>
            <a:off x="8183879" y="2697480"/>
            <a:ext cx="3108960" cy="411480"/>
          </a:xfrm>
          <a:prstGeom prst="rect">
            <a:avLst/>
          </a:prstGeom>
          <a:noFill/>
        </p:spPr>
        <p:txBody>
          <a:bodyPr wrap="square" anchor="t" lIns="45720" rIns="45720" tIns="27432" bIns="27432">
            <a:spAutoFit/>
          </a:bodyPr>
          <a:lstStyle/>
          <a:p>
            <a:pPr algn="l">
              <a:lnSpc>
                <a:spcPct val="105000"/>
              </a:lnSpc>
            </a:pPr>
            <a:r>
              <a:rPr sz="1800" b="1">
                <a:solidFill>
                  <a:srgbClr val="587063"/>
                </a:solidFill>
                <a:latin typeface="Calibri"/>
              </a:rPr>
              <a:t>We show it openly</a:t>
            </a:r>
          </a:p>
        </p:txBody>
      </p:sp>
      <p:sp>
        <p:nvSpPr>
          <p:cNvPr id="15" name="TextBox 14"/>
          <p:cNvSpPr txBox="1"/>
          <p:nvPr/>
        </p:nvSpPr>
        <p:spPr>
          <a:xfrm>
            <a:off x="8183879" y="3200400"/>
            <a:ext cx="3154680" cy="1920240"/>
          </a:xfrm>
          <a:prstGeom prst="rect">
            <a:avLst/>
          </a:prstGeom>
          <a:noFill/>
        </p:spPr>
        <p:txBody>
          <a:bodyPr wrap="square" anchor="t" lIns="45720" rIns="45720" tIns="27432" bIns="27432">
            <a:spAutoFit/>
          </a:bodyPr>
          <a:lstStyle/>
          <a:p>
            <a:pPr algn="l">
              <a:lnSpc>
                <a:spcPct val="110000"/>
              </a:lnSpc>
            </a:pPr>
            <a:r>
              <a:rPr sz="1900" b="0">
                <a:solidFill>
                  <a:srgbClr val="0F2419"/>
                </a:solidFill>
                <a:latin typeface="Calibri"/>
              </a:rPr>
              <a:t>Classical wins at every size we can run today. The advantage needs gates ~3,000x better.</a:t>
            </a:r>
          </a:p>
        </p:txBody>
      </p:sp>
      <p:sp>
        <p:nvSpPr>
          <p:cNvPr id="16" name="Rectangle 15"/>
          <p:cNvSpPr/>
          <p:nvPr/>
        </p:nvSpPr>
        <p:spPr>
          <a:xfrm>
            <a:off x="685800" y="5349240"/>
            <a:ext cx="10789920" cy="868680"/>
          </a:xfrm>
          <a:prstGeom prst="rect">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349240"/>
            <a:ext cx="10424160" cy="868680"/>
          </a:xfrm>
          <a:prstGeom prst="rect">
            <a:avLst/>
          </a:prstGeom>
          <a:noFill/>
        </p:spPr>
        <p:txBody>
          <a:bodyPr wrap="square" anchor="ctr" lIns="45720" rIns="45720" tIns="27432" bIns="27432">
            <a:spAutoFit/>
          </a:bodyPr>
          <a:lstStyle/>
          <a:p>
            <a:pPr algn="l">
              <a:lnSpc>
                <a:spcPct val="105000"/>
              </a:lnSpc>
            </a:pPr>
            <a:r>
              <a:rPr sz="2100" b="1">
                <a:solidFill>
                  <a:srgbClr val="4ADE9B"/>
                </a:solidFill>
                <a:latin typeface="Calibri"/>
              </a:rPr>
              <a:t>Where it pays off: </a:t>
            </a:r>
            <a:r>
              <a:rPr sz="2100" b="0">
                <a:solidFill>
                  <a:srgbClr val="FFFFFF"/>
                </a:solidFill>
                <a:latin typeface="Calibri"/>
              </a:rPr>
              <a:t>thousands of projects, pixel-level models, refreshed weekly. Quantum-ready today, switched on when hardware allows.</a:t>
            </a:r>
          </a:p>
        </p:txBody>
      </p:sp>
      <p:sp>
        <p:nvSpPr>
          <p:cNvPr id="18" name="TextBox 17"/>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9" name="TextBox 18"/>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Who pays for trust? Everyone who has to rely on a credit</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03120"/>
            <a:ext cx="5212080" cy="457200"/>
          </a:xfrm>
          <a:prstGeom prst="rect">
            <a:avLst/>
          </a:prstGeom>
          <a:noFill/>
        </p:spPr>
        <p:txBody>
          <a:bodyPr wrap="square" anchor="t" lIns="45720" rIns="45720" tIns="27432" bIns="27432">
            <a:spAutoFit/>
          </a:bodyPr>
          <a:lstStyle/>
          <a:p>
            <a:pPr algn="l">
              <a:lnSpc>
                <a:spcPct val="105000"/>
              </a:lnSpc>
            </a:pPr>
            <a:r>
              <a:rPr sz="2600" b="1">
                <a:solidFill>
                  <a:srgbClr val="0C3D2B"/>
                </a:solidFill>
                <a:latin typeface="Calibri"/>
              </a:rPr>
              <a:t>Customers</a:t>
            </a:r>
          </a:p>
        </p:txBody>
      </p:sp>
      <p:sp>
        <p:nvSpPr>
          <p:cNvPr id="5" name="TextBox 4"/>
          <p:cNvSpPr txBox="1"/>
          <p:nvPr/>
        </p:nvSpPr>
        <p:spPr>
          <a:xfrm>
            <a:off x="685800" y="2606040"/>
            <a:ext cx="5212080" cy="3108960"/>
          </a:xfrm>
          <a:prstGeom prst="rect">
            <a:avLst/>
          </a:prstGeom>
          <a:noFill/>
        </p:spPr>
        <p:txBody>
          <a:bodyPr wrap="square" anchor="t" lIns="45720" rIns="45720" tIns="27432" bIns="27432">
            <a:spAutoFit/>
          </a:bodyPr>
          <a:lstStyle/>
          <a:p>
            <a:pPr algn="l">
              <a:lnSpc>
                <a:spcPct val="130000"/>
              </a:lnSpc>
            </a:pPr>
            <a:r>
              <a:rPr sz="2400" b="0">
                <a:solidFill>
                  <a:srgbClr val="0F2419"/>
                </a:solidFill>
                <a:latin typeface="Calibri"/>
              </a:rPr>
              <a:t>Credit buyers and corporates</a:t>
            </a:r>
          </a:p>
          <a:p>
            <a:pPr algn="l">
              <a:lnSpc>
                <a:spcPct val="130000"/>
              </a:lnSpc>
            </a:pPr>
            <a:r>
              <a:rPr sz="2400" b="0">
                <a:solidFill>
                  <a:srgbClr val="0F2419"/>
                </a:solidFill>
                <a:latin typeface="Calibri"/>
              </a:rPr>
              <a:t>Registries and auditors</a:t>
            </a:r>
          </a:p>
          <a:p>
            <a:pPr algn="l">
              <a:lnSpc>
                <a:spcPct val="130000"/>
              </a:lnSpc>
            </a:pPr>
            <a:r>
              <a:rPr sz="2400" b="0">
                <a:solidFill>
                  <a:srgbClr val="0F2419"/>
                </a:solidFill>
                <a:latin typeface="Calibri"/>
              </a:rPr>
              <a:t>Insurers and banks financing credits</a:t>
            </a:r>
          </a:p>
          <a:p>
            <a:pPr algn="l">
              <a:lnSpc>
                <a:spcPct val="130000"/>
              </a:lnSpc>
            </a:pPr>
            <a:r>
              <a:rPr sz="2400" b="1">
                <a:solidFill>
                  <a:srgbClr val="0C3D2B"/>
                </a:solidFill>
                <a:latin typeface="Calibri"/>
              </a:rPr>
              <a:t>Model: </a:t>
            </a:r>
            <a:r>
              <a:rPr sz="2400" b="0">
                <a:solidFill>
                  <a:srgbClr val="0F2419"/>
                </a:solidFill>
                <a:latin typeface="Calibri"/>
              </a:rPr>
              <a:t>subscription per monitored project; public status as the trust signal</a:t>
            </a:r>
          </a:p>
        </p:txBody>
      </p:sp>
      <p:sp>
        <p:nvSpPr>
          <p:cNvPr id="6" name="TextBox 5"/>
          <p:cNvSpPr txBox="1"/>
          <p:nvPr/>
        </p:nvSpPr>
        <p:spPr>
          <a:xfrm>
            <a:off x="6309360" y="2103120"/>
            <a:ext cx="5212080" cy="457200"/>
          </a:xfrm>
          <a:prstGeom prst="rect">
            <a:avLst/>
          </a:prstGeom>
          <a:noFill/>
        </p:spPr>
        <p:txBody>
          <a:bodyPr wrap="square" anchor="t" lIns="45720" rIns="45720" tIns="27432" bIns="27432">
            <a:spAutoFit/>
          </a:bodyPr>
          <a:lstStyle/>
          <a:p>
            <a:pPr algn="l">
              <a:lnSpc>
                <a:spcPct val="105000"/>
              </a:lnSpc>
            </a:pPr>
            <a:r>
              <a:rPr sz="2600" b="1">
                <a:solidFill>
                  <a:srgbClr val="0C3D2B"/>
                </a:solidFill>
                <a:latin typeface="Calibri"/>
              </a:rPr>
              <a:t>Maturity and next steps</a:t>
            </a:r>
          </a:p>
        </p:txBody>
      </p:sp>
      <p:sp>
        <p:nvSpPr>
          <p:cNvPr id="7" name="TextBox 6"/>
          <p:cNvSpPr txBox="1"/>
          <p:nvPr/>
        </p:nvSpPr>
        <p:spPr>
          <a:xfrm>
            <a:off x="6309360" y="2606040"/>
            <a:ext cx="5212080" cy="3474720"/>
          </a:xfrm>
          <a:prstGeom prst="rect">
            <a:avLst/>
          </a:prstGeom>
          <a:noFill/>
        </p:spPr>
        <p:txBody>
          <a:bodyPr wrap="square" anchor="t" lIns="45720" rIns="45720" tIns="27432" bIns="27432">
            <a:spAutoFit/>
          </a:bodyPr>
          <a:lstStyle/>
          <a:p>
            <a:pPr algn="l">
              <a:lnSpc>
                <a:spcPct val="130000"/>
              </a:lnSpc>
            </a:pPr>
            <a:r>
              <a:rPr sz="2400" b="1">
                <a:solidFill>
                  <a:srgbClr val="0C3D2B"/>
                </a:solidFill>
                <a:latin typeface="Calibri"/>
              </a:rPr>
              <a:t>Now: </a:t>
            </a:r>
            <a:r>
              <a:rPr sz="2400" b="0">
                <a:solidFill>
                  <a:srgbClr val="0F2419"/>
                </a:solidFill>
                <a:latin typeface="Calibri"/>
              </a:rPr>
              <a:t>end-to-end prototype, 4 projects, NFTs on Base Sepolia</a:t>
            </a:r>
          </a:p>
          <a:p>
            <a:pPr algn="l">
              <a:lnSpc>
                <a:spcPct val="130000"/>
              </a:lnSpc>
            </a:pPr>
            <a:r>
              <a:rPr sz="2400" b="1">
                <a:solidFill>
                  <a:srgbClr val="0C3D2B"/>
                </a:solidFill>
                <a:latin typeface="Calibri"/>
              </a:rPr>
              <a:t>Next: </a:t>
            </a:r>
            <a:r>
              <a:rPr sz="2400" b="0">
                <a:solidFill>
                  <a:srgbClr val="0F2419"/>
                </a:solidFill>
                <a:latin typeface="Calibri"/>
              </a:rPr>
              <a:t>real project carbon data instead of assumptions</a:t>
            </a:r>
          </a:p>
          <a:p>
            <a:pPr algn="l">
              <a:lnSpc>
                <a:spcPct val="130000"/>
              </a:lnSpc>
            </a:pPr>
            <a:r>
              <a:rPr sz="2400" b="1">
                <a:solidFill>
                  <a:srgbClr val="0C3D2B"/>
                </a:solidFill>
                <a:latin typeface="Calibri"/>
              </a:rPr>
              <a:t>Then: </a:t>
            </a:r>
            <a:r>
              <a:rPr sz="2400" b="0">
                <a:solidFill>
                  <a:srgbClr val="0F2419"/>
                </a:solidFill>
                <a:latin typeface="Calibri"/>
              </a:rPr>
              <a:t>validate against audited projects</a:t>
            </a:r>
          </a:p>
          <a:p>
            <a:pPr algn="l">
              <a:lnSpc>
                <a:spcPct val="130000"/>
              </a:lnSpc>
            </a:pPr>
            <a:r>
              <a:rPr sz="2400" b="1">
                <a:solidFill>
                  <a:srgbClr val="0C3D2B"/>
                </a:solidFill>
                <a:latin typeface="Calibri"/>
              </a:rPr>
              <a:t>Later: </a:t>
            </a:r>
            <a:r>
              <a:rPr sz="2400" b="0">
                <a:solidFill>
                  <a:srgbClr val="0F2419"/>
                </a:solidFill>
                <a:latin typeface="Calibri"/>
              </a:rPr>
              <a:t>quantum steps as hardware matures</a:t>
            </a:r>
          </a:p>
        </p:txBody>
      </p:sp>
      <p:sp>
        <p:nvSpPr>
          <p:cNvPr id="8" name="TextBox 7"/>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9" name="TextBox 8"/>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From matching engine to a live public verdict</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03120"/>
            <a:ext cx="3931920" cy="457200"/>
          </a:xfrm>
          <a:prstGeom prst="rect">
            <a:avLst/>
          </a:prstGeom>
          <a:noFill/>
        </p:spPr>
        <p:txBody>
          <a:bodyPr wrap="square" anchor="t" lIns="45720" rIns="45720" tIns="27432" bIns="27432">
            <a:spAutoFit/>
          </a:bodyPr>
          <a:lstStyle/>
          <a:p>
            <a:pPr algn="l">
              <a:lnSpc>
                <a:spcPct val="105000"/>
              </a:lnSpc>
            </a:pPr>
            <a:r>
              <a:rPr sz="2600" b="1">
                <a:solidFill>
                  <a:srgbClr val="0C3D2B"/>
                </a:solidFill>
                <a:latin typeface="Calibri"/>
              </a:rPr>
              <a:t>Started with</a:t>
            </a:r>
          </a:p>
        </p:txBody>
      </p:sp>
      <p:sp>
        <p:nvSpPr>
          <p:cNvPr id="5" name="TextBox 4"/>
          <p:cNvSpPr txBox="1"/>
          <p:nvPr/>
        </p:nvSpPr>
        <p:spPr>
          <a:xfrm>
            <a:off x="685800" y="2606040"/>
            <a:ext cx="3931920" cy="2377440"/>
          </a:xfrm>
          <a:prstGeom prst="rect">
            <a:avLst/>
          </a:prstGeom>
          <a:noFill/>
        </p:spPr>
        <p:txBody>
          <a:bodyPr wrap="square" anchor="t" lIns="45720" rIns="45720" tIns="27432" bIns="27432">
            <a:spAutoFit/>
          </a:bodyPr>
          <a:lstStyle/>
          <a:p>
            <a:pPr algn="l">
              <a:lnSpc>
                <a:spcPct val="120000"/>
              </a:lnSpc>
            </a:pPr>
            <a:r>
              <a:rPr sz="2200" b="0">
                <a:solidFill>
                  <a:srgbClr val="0F2419"/>
                </a:solidFill>
                <a:latin typeface="Calibri"/>
              </a:rPr>
              <a:t>Parcel-matching engine: finds forest that looks like the project</a:t>
            </a:r>
          </a:p>
        </p:txBody>
      </p:sp>
      <p:sp>
        <p:nvSpPr>
          <p:cNvPr id="6" name="TextBox 5"/>
          <p:cNvSpPr txBox="1"/>
          <p:nvPr/>
        </p:nvSpPr>
        <p:spPr>
          <a:xfrm>
            <a:off x="4937760" y="2103120"/>
            <a:ext cx="6583680" cy="457200"/>
          </a:xfrm>
          <a:prstGeom prst="rect">
            <a:avLst/>
          </a:prstGeom>
          <a:noFill/>
        </p:spPr>
        <p:txBody>
          <a:bodyPr wrap="square" anchor="t" lIns="45720" rIns="45720" tIns="27432" bIns="27432">
            <a:spAutoFit/>
          </a:bodyPr>
          <a:lstStyle/>
          <a:p>
            <a:pPr algn="l">
              <a:lnSpc>
                <a:spcPct val="105000"/>
              </a:lnSpc>
            </a:pPr>
            <a:r>
              <a:rPr sz="2600" b="1">
                <a:solidFill>
                  <a:srgbClr val="0C3D2B"/>
                </a:solidFill>
                <a:latin typeface="Calibri"/>
              </a:rPr>
              <a:t>Built at the event</a:t>
            </a:r>
          </a:p>
        </p:txBody>
      </p:sp>
      <p:sp>
        <p:nvSpPr>
          <p:cNvPr id="7" name="TextBox 6"/>
          <p:cNvSpPr txBox="1"/>
          <p:nvPr/>
        </p:nvSpPr>
        <p:spPr>
          <a:xfrm>
            <a:off x="4937760" y="2606040"/>
            <a:ext cx="6583680" cy="2743200"/>
          </a:xfrm>
          <a:prstGeom prst="rect">
            <a:avLst/>
          </a:prstGeom>
          <a:noFill/>
        </p:spPr>
        <p:txBody>
          <a:bodyPr wrap="square" anchor="t" lIns="45720" rIns="45720" tIns="27432" bIns="27432">
            <a:spAutoFit/>
          </a:bodyPr>
          <a:lstStyle/>
          <a:p>
            <a:pPr algn="l">
              <a:lnSpc>
                <a:spcPct val="115000"/>
              </a:lnSpc>
            </a:pPr>
            <a:r>
              <a:rPr sz="2100" b="0">
                <a:solidFill>
                  <a:srgbClr val="0F2419"/>
                </a:solidFill>
                <a:latin typeface="Calibri"/>
              </a:rPr>
              <a:t>Quantum selection, run on IBM Fez, benchmarked against classical</a:t>
            </a:r>
          </a:p>
          <a:p>
            <a:pPr algn="l">
              <a:lnSpc>
                <a:spcPct val="115000"/>
              </a:lnSpc>
            </a:pPr>
            <a:r>
              <a:rPr sz="2100" b="0">
                <a:solidFill>
                  <a:srgbClr val="0F2419"/>
                </a:solidFill>
                <a:latin typeface="Calibri"/>
              </a:rPr>
              <a:t>Weekly radar monitoring and avoided CO2e</a:t>
            </a:r>
          </a:p>
          <a:p>
            <a:pPr algn="l">
              <a:lnSpc>
                <a:spcPct val="115000"/>
              </a:lnSpc>
            </a:pPr>
            <a:r>
              <a:rPr sz="2100" b="0">
                <a:solidFill>
                  <a:srgbClr val="0F2419"/>
                </a:solidFill>
                <a:latin typeface="Calibri"/>
              </a:rPr>
              <a:t>Amplitude estimation simulation</a:t>
            </a:r>
          </a:p>
          <a:p>
            <a:pPr algn="l">
              <a:lnSpc>
                <a:spcPct val="115000"/>
              </a:lnSpc>
            </a:pPr>
            <a:r>
              <a:rPr sz="2100" b="0">
                <a:solidFill>
                  <a:srgbClr val="0F2419"/>
                </a:solidFill>
                <a:latin typeface="Calibri"/>
              </a:rPr>
              <a:t>Five-status NFT on Base Sepolia</a:t>
            </a:r>
          </a:p>
          <a:p>
            <a:pPr algn="l">
              <a:lnSpc>
                <a:spcPct val="115000"/>
              </a:lnSpc>
            </a:pPr>
            <a:r>
              <a:rPr sz="2100" b="0">
                <a:solidFill>
                  <a:srgbClr val="0F2419"/>
                </a:solidFill>
                <a:latin typeface="Calibri"/>
              </a:rPr>
              <a:t>Dashboard: upload a project, no code</a:t>
            </a:r>
          </a:p>
        </p:txBody>
      </p:sp>
      <p:sp>
        <p:nvSpPr>
          <p:cNvPr id="8" name="Rectangle 7"/>
          <p:cNvSpPr/>
          <p:nvPr/>
        </p:nvSpPr>
        <p:spPr>
          <a:xfrm>
            <a:off x="685800" y="5257800"/>
            <a:ext cx="10835640" cy="68580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257800"/>
            <a:ext cx="10469880" cy="685800"/>
          </a:xfrm>
          <a:prstGeom prst="rect">
            <a:avLst/>
          </a:prstGeom>
          <a:noFill/>
        </p:spPr>
        <p:txBody>
          <a:bodyPr wrap="square" anchor="ctr" lIns="45720" rIns="45720" tIns="27432" bIns="27432">
            <a:spAutoFit/>
          </a:bodyPr>
          <a:lstStyle/>
          <a:p>
            <a:pPr algn="l">
              <a:lnSpc>
                <a:spcPct val="105000"/>
              </a:lnSpc>
            </a:pPr>
            <a:r>
              <a:rPr sz="1900" b="1">
                <a:solidFill>
                  <a:srgbClr val="0C3D2B"/>
                </a:solidFill>
                <a:latin typeface="Calibri"/>
              </a:rPr>
              <a:t>Built on: </a:t>
            </a:r>
            <a:r>
              <a:rPr sz="1900" b="0">
                <a:solidFill>
                  <a:srgbClr val="0F2419"/>
                </a:solidFill>
                <a:latin typeface="Calibri"/>
              </a:rPr>
              <a:t>Google Earth Engine · RADD radar alerts · Qiskit · IBM Quantum · Base Sepolia · IPFS</a:t>
            </a:r>
          </a:p>
        </p:txBody>
      </p:sp>
      <p:sp>
        <p:nvSpPr>
          <p:cNvPr id="10" name="TextBox 9"/>
          <p:cNvSpPr txBox="1"/>
          <p:nvPr/>
        </p:nvSpPr>
        <p:spPr>
          <a:xfrm>
            <a:off x="685800" y="5989320"/>
            <a:ext cx="10835640" cy="457200"/>
          </a:xfrm>
          <a:prstGeom prst="rect">
            <a:avLst/>
          </a:prstGeom>
          <a:noFill/>
        </p:spPr>
        <p:txBody>
          <a:bodyPr wrap="square" anchor="t" lIns="45720" rIns="45720" tIns="27432" bIns="27432">
            <a:spAutoFit/>
          </a:bodyPr>
          <a:lstStyle/>
          <a:p>
            <a:pPr algn="l">
              <a:lnSpc>
                <a:spcPct val="105000"/>
              </a:lnSpc>
            </a:pPr>
            <a:r>
              <a:rPr sz="2600" b="1">
                <a:solidFill>
                  <a:srgbClr val="0C3D2B"/>
                </a:solidFill>
                <a:latin typeface="Calibri"/>
              </a:rPr>
              <a:t>Trust in carbon credits, checked every week.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
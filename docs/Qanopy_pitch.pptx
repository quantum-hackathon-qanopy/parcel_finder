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Carbon credits pay for forest that was not cut down. Who checks that, week by week? Today, credits are checked in periodic audits. We built a system that checks them every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carbon credit pays for forest that stays standing. The baseline, the loss that would have happened without the project, is estimated in project documents. Auditors check it periodically. Buyers and banks have no continuous evidence.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Qanopy takes a project boundary and selects 50 similar forest parcels. It reads satellite radar alerts for the project and the parcels every week. The difference is the avoided forest loss. Qanopy converts it to tons of CO2 and compares it with the project's claim. The result is published as a five-level NFT status. Four projects run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dashboard for ALGAR in Brazil. The project lost 0.58% of its forest. The comparison parcels lost 4.61%. That is 5,741 hectares avoided, or 31% of the amount claimed so far. The status is Worst. We read this as a flag to investigate.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amplitude estimation, or QAE, estimates an average with fewer samples than classical Monte Carlo. We ran it on IBM's ibm_fez. A one-qubit test had lower error than Monte Carlo at five of eight budgets, up to 16 times lower. At 262,000 calls, hardware noise removed the advantage. The full 50-parcel circuit lost its signal after one Grover step. Today's hardware shows the advantage at small scale only.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helps when the scale grows. We also ran parcel selection on ibm_fez. It found the best set in 71% of valid runs on a small problem. For plus or minus 1%, QAE needs about 2,000 runs where Monte Carlo needs 98,000. That matters when every run is a costly simulation, over thousands of projects, every week. It needs gates about 3,000 times better than today's. Until then, classical methods win at every size we can run.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Buyers, registries, insurers and banks need to rely on credits. They would pay a subscription per monitored project. Today a working prototype covers four projects, with NFTs on a test network. The parcel-matching engine existed first. At this event we added the quantum runs, the monitoring, the NFT status and the dashboard. Next, we replace assumed carbon densities with project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3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554480"/>
            <a:ext cx="10515600" cy="2560320"/>
          </a:xfrm>
          <a:prstGeom prst="rect">
            <a:avLst/>
          </a:prstGeom>
          <a:noFill/>
        </p:spPr>
        <p:txBody>
          <a:bodyPr wrap="square" anchor="t" lIns="45720" rIns="45720" tIns="27432" bIns="27432">
            <a:spAutoFit/>
          </a:bodyPr>
          <a:lstStyle/>
          <a:p>
            <a:pPr algn="l">
              <a:lnSpc>
                <a:spcPct val="95000"/>
              </a:lnSpc>
            </a:pPr>
            <a:r>
              <a:rPr sz="5800" b="1">
                <a:solidFill>
                  <a:srgbClr val="FFFFFF"/>
                </a:solidFill>
                <a:latin typeface="Calibri"/>
              </a:rPr>
              <a:t>Who checks that a carbon credit saved a forest?</a:t>
            </a:r>
          </a:p>
        </p:txBody>
      </p:sp>
      <p:sp>
        <p:nvSpPr>
          <p:cNvPr id="4" name="TextBox 3"/>
          <p:cNvSpPr txBox="1"/>
          <p:nvPr/>
        </p:nvSpPr>
        <p:spPr>
          <a:xfrm>
            <a:off x="822960" y="4480560"/>
            <a:ext cx="10058400" cy="822960"/>
          </a:xfrm>
          <a:prstGeom prst="rect">
            <a:avLst/>
          </a:prstGeom>
          <a:noFill/>
        </p:spPr>
        <p:txBody>
          <a:bodyPr wrap="square" anchor="t" lIns="45720" rIns="45720" tIns="27432" bIns="27432">
            <a:spAutoFit/>
          </a:bodyPr>
          <a:lstStyle/>
          <a:p>
            <a:pPr algn="l">
              <a:lnSpc>
                <a:spcPct val="105000"/>
              </a:lnSpc>
            </a:pPr>
            <a:r>
              <a:rPr sz="4000" b="1">
                <a:solidFill>
                  <a:srgbClr val="4ADE9B"/>
                </a:solidFill>
                <a:latin typeface="Calibri"/>
              </a:rPr>
              <a:t>Qanopy checks it every week.</a:t>
            </a:r>
          </a:p>
        </p:txBody>
      </p:sp>
      <p:sp>
        <p:nvSpPr>
          <p:cNvPr id="5" name="TextBox 4"/>
          <p:cNvSpPr txBox="1"/>
          <p:nvPr/>
        </p:nvSpPr>
        <p:spPr>
          <a:xfrm>
            <a:off x="822960" y="5943600"/>
            <a:ext cx="10058400" cy="365760"/>
          </a:xfrm>
          <a:prstGeom prst="rect">
            <a:avLst/>
          </a:prstGeom>
          <a:noFill/>
        </p:spPr>
        <p:txBody>
          <a:bodyPr wrap="square" anchor="t" lIns="45720" rIns="45720" tIns="27432" bIns="27432">
            <a:spAutoFit/>
          </a:bodyPr>
          <a:lstStyle/>
          <a:p>
            <a:pPr algn="l">
              <a:lnSpc>
                <a:spcPct val="105000"/>
              </a:lnSpc>
            </a:pPr>
            <a:r>
              <a:rPr sz="1600" b="0">
                <a:solidFill>
                  <a:srgbClr val="B5D3C4"/>
                </a:solidFill>
                <a:latin typeface="Calibri"/>
              </a:rPr>
              <a:t>Quantum x Finance Hackathon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1188720"/>
          </a:xfrm>
          <a:prstGeom prst="rect">
            <a:avLst/>
          </a:prstGeom>
          <a:noFill/>
        </p:spPr>
        <p:txBody>
          <a:bodyPr wrap="square" anchor="t" lIns="45720" rIns="45720" tIns="27432" bIns="27432">
            <a:spAutoFit/>
          </a:bodyPr>
          <a:lstStyle/>
          <a:p>
            <a:pPr algn="l">
              <a:lnSpc>
                <a:spcPct val="95000"/>
              </a:lnSpc>
            </a:pPr>
            <a:r>
              <a:rPr sz="4000" b="1">
                <a:solidFill>
                  <a:srgbClr val="0C3D2B"/>
                </a:solidFill>
                <a:latin typeface="Calibri"/>
              </a:rPr>
              <a:t>Credit buyers cannot check a credit between audits</a:t>
            </a:r>
          </a:p>
        </p:txBody>
      </p:sp>
      <p:sp>
        <p:nvSpPr>
          <p:cNvPr id="3" name="Rectangle 2"/>
          <p:cNvSpPr/>
          <p:nvPr/>
        </p:nvSpPr>
        <p:spPr>
          <a:xfrm>
            <a:off x="685800" y="1764792"/>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286000"/>
            <a:ext cx="10835640" cy="109728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286000"/>
            <a:ext cx="2377440" cy="1097280"/>
          </a:xfrm>
          <a:prstGeom prst="rect">
            <a:avLst/>
          </a:prstGeom>
          <a:noFill/>
        </p:spPr>
        <p:txBody>
          <a:bodyPr wrap="square" anchor="ctr" lIns="45720" rIns="45720" tIns="27432" bIns="27432">
            <a:spAutoFit/>
          </a:bodyPr>
          <a:lstStyle/>
          <a:p>
            <a:pPr algn="l">
              <a:lnSpc>
                <a:spcPct val="105000"/>
              </a:lnSpc>
            </a:pPr>
            <a:r>
              <a:rPr sz="2400" b="1">
                <a:solidFill>
                  <a:srgbClr val="0C3D2B"/>
                </a:solidFill>
                <a:latin typeface="Calibri"/>
              </a:rPr>
              <a:t>The credit</a:t>
            </a:r>
          </a:p>
        </p:txBody>
      </p:sp>
      <p:sp>
        <p:nvSpPr>
          <p:cNvPr id="6" name="TextBox 5"/>
          <p:cNvSpPr txBox="1"/>
          <p:nvPr/>
        </p:nvSpPr>
        <p:spPr>
          <a:xfrm>
            <a:off x="3246120" y="2286000"/>
            <a:ext cx="8092440" cy="1097280"/>
          </a:xfrm>
          <a:prstGeom prst="rect">
            <a:avLst/>
          </a:prstGeom>
          <a:noFill/>
        </p:spPr>
        <p:txBody>
          <a:bodyPr wrap="square" anchor="ctr" lIns="45720" rIns="45720" tIns="27432" bIns="27432">
            <a:spAutoFit/>
          </a:bodyPr>
          <a:lstStyle/>
          <a:p>
            <a:pPr algn="l">
              <a:lnSpc>
                <a:spcPct val="100000"/>
              </a:lnSpc>
            </a:pPr>
            <a:r>
              <a:rPr sz="2200" b="0">
                <a:solidFill>
                  <a:srgbClr val="0F2419"/>
                </a:solidFill>
                <a:latin typeface="Calibri"/>
              </a:rPr>
              <a:t>Pays for forest that stays standing.</a:t>
            </a:r>
          </a:p>
        </p:txBody>
      </p:sp>
      <p:sp>
        <p:nvSpPr>
          <p:cNvPr id="7" name="Rectangle 6"/>
          <p:cNvSpPr/>
          <p:nvPr/>
        </p:nvSpPr>
        <p:spPr>
          <a:xfrm>
            <a:off x="685800" y="3584448"/>
            <a:ext cx="10835640" cy="109728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3584448"/>
            <a:ext cx="2377440" cy="1097280"/>
          </a:xfrm>
          <a:prstGeom prst="rect">
            <a:avLst/>
          </a:prstGeom>
          <a:noFill/>
        </p:spPr>
        <p:txBody>
          <a:bodyPr wrap="square" anchor="ctr" lIns="45720" rIns="45720" tIns="27432" bIns="27432">
            <a:spAutoFit/>
          </a:bodyPr>
          <a:lstStyle/>
          <a:p>
            <a:pPr algn="l">
              <a:lnSpc>
                <a:spcPct val="105000"/>
              </a:lnSpc>
            </a:pPr>
            <a:r>
              <a:rPr sz="2400" b="1">
                <a:solidFill>
                  <a:srgbClr val="0C3D2B"/>
                </a:solidFill>
                <a:latin typeface="Calibri"/>
              </a:rPr>
              <a:t>The baseline</a:t>
            </a:r>
          </a:p>
        </p:txBody>
      </p:sp>
      <p:sp>
        <p:nvSpPr>
          <p:cNvPr id="9" name="TextBox 8"/>
          <p:cNvSpPr txBox="1"/>
          <p:nvPr/>
        </p:nvSpPr>
        <p:spPr>
          <a:xfrm>
            <a:off x="3246120" y="3584448"/>
            <a:ext cx="8092440" cy="1097280"/>
          </a:xfrm>
          <a:prstGeom prst="rect">
            <a:avLst/>
          </a:prstGeom>
          <a:noFill/>
        </p:spPr>
        <p:txBody>
          <a:bodyPr wrap="square" anchor="ctr" lIns="45720" rIns="45720" tIns="27432" bIns="27432">
            <a:spAutoFit/>
          </a:bodyPr>
          <a:lstStyle/>
          <a:p>
            <a:pPr algn="l">
              <a:lnSpc>
                <a:spcPct val="100000"/>
              </a:lnSpc>
            </a:pPr>
            <a:r>
              <a:rPr sz="2200" b="0">
                <a:solidFill>
                  <a:srgbClr val="0F2419"/>
                </a:solidFill>
                <a:latin typeface="Calibri"/>
              </a:rPr>
              <a:t>Estimated in project documents.</a:t>
            </a:r>
          </a:p>
        </p:txBody>
      </p:sp>
      <p:sp>
        <p:nvSpPr>
          <p:cNvPr id="10" name="Rectangle 9"/>
          <p:cNvSpPr/>
          <p:nvPr/>
        </p:nvSpPr>
        <p:spPr>
          <a:xfrm>
            <a:off x="685800" y="4882896"/>
            <a:ext cx="10835640" cy="109728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882896"/>
            <a:ext cx="2377440" cy="1097280"/>
          </a:xfrm>
          <a:prstGeom prst="rect">
            <a:avLst/>
          </a:prstGeom>
          <a:noFill/>
        </p:spPr>
        <p:txBody>
          <a:bodyPr wrap="square" anchor="ctr" lIns="45720" rIns="45720" tIns="27432" bIns="27432">
            <a:spAutoFit/>
          </a:bodyPr>
          <a:lstStyle/>
          <a:p>
            <a:pPr algn="l">
              <a:lnSpc>
                <a:spcPct val="105000"/>
              </a:lnSpc>
            </a:pPr>
            <a:r>
              <a:rPr sz="2400" b="1">
                <a:solidFill>
                  <a:srgbClr val="0C3D2B"/>
                </a:solidFill>
                <a:latin typeface="Calibri"/>
              </a:rPr>
              <a:t>The check</a:t>
            </a:r>
          </a:p>
        </p:txBody>
      </p:sp>
      <p:sp>
        <p:nvSpPr>
          <p:cNvPr id="12" name="TextBox 11"/>
          <p:cNvSpPr txBox="1"/>
          <p:nvPr/>
        </p:nvSpPr>
        <p:spPr>
          <a:xfrm>
            <a:off x="3246120" y="4882896"/>
            <a:ext cx="8092440" cy="1097280"/>
          </a:xfrm>
          <a:prstGeom prst="rect">
            <a:avLst/>
          </a:prstGeom>
          <a:noFill/>
        </p:spPr>
        <p:txBody>
          <a:bodyPr wrap="square" anchor="ctr" lIns="45720" rIns="45720" tIns="27432" bIns="27432">
            <a:spAutoFit/>
          </a:bodyPr>
          <a:lstStyle/>
          <a:p>
            <a:pPr algn="l">
              <a:lnSpc>
                <a:spcPct val="100000"/>
              </a:lnSpc>
            </a:pPr>
            <a:r>
              <a:rPr sz="2200" b="0">
                <a:solidFill>
                  <a:srgbClr val="0F2419"/>
                </a:solidFill>
                <a:latin typeface="Calibri"/>
              </a:rPr>
              <a:t>A periodic audit, not continuous evidence.</a:t>
            </a:r>
          </a:p>
        </p:txBody>
      </p:sp>
      <p:sp>
        <p:nvSpPr>
          <p:cNvPr id="13" name="TextBox 12"/>
          <p:cNvSpPr txBox="1"/>
          <p:nvPr/>
        </p:nvSpPr>
        <p:spPr>
          <a:xfrm>
            <a:off x="640080" y="6400800"/>
            <a:ext cx="5486400" cy="27432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Qanopy · Carbon credit verification</a:t>
            </a:r>
          </a:p>
        </p:txBody>
      </p:sp>
      <p:sp>
        <p:nvSpPr>
          <p:cNvPr id="14" name="TextBox 13"/>
          <p:cNvSpPr txBox="1"/>
          <p:nvPr/>
        </p:nvSpPr>
        <p:spPr>
          <a:xfrm>
            <a:off x="10881360" y="6400800"/>
            <a:ext cx="731520" cy="274320"/>
          </a:xfrm>
          <a:prstGeom prst="rect">
            <a:avLst/>
          </a:prstGeom>
          <a:noFill/>
        </p:spPr>
        <p:txBody>
          <a:bodyPr wrap="square" anchor="t" lIns="45720" rIns="45720" tIns="27432" bIns="27432">
            <a:spAutoFit/>
          </a:bodyPr>
          <a:lstStyle/>
          <a:p>
            <a:pPr algn="r">
              <a:lnSpc>
                <a:spcPct val="105000"/>
              </a:lnSpc>
            </a:pPr>
            <a:r>
              <a:rPr sz="1200" b="0">
                <a:solidFill>
                  <a:srgbClr val="587063"/>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1188720"/>
          </a:xfrm>
          <a:prstGeom prst="rect">
            <a:avLst/>
          </a:prstGeom>
          <a:noFill/>
        </p:spPr>
        <p:txBody>
          <a:bodyPr wrap="square" anchor="t" lIns="45720" rIns="45720" tIns="27432" bIns="27432">
            <a:spAutoFit/>
          </a:bodyPr>
          <a:lstStyle/>
          <a:p>
            <a:pPr algn="l">
              <a:lnSpc>
                <a:spcPct val="95000"/>
              </a:lnSpc>
            </a:pPr>
            <a:r>
              <a:rPr sz="4000" b="1">
                <a:solidFill>
                  <a:srgbClr val="0C3D2B"/>
                </a:solidFill>
                <a:latin typeface="Calibri"/>
              </a:rPr>
              <a:t>Qanopy compares each project with similar forest</a:t>
            </a:r>
          </a:p>
        </p:txBody>
      </p:sp>
      <p:sp>
        <p:nvSpPr>
          <p:cNvPr id="3" name="Rectangle 2"/>
          <p:cNvSpPr/>
          <p:nvPr/>
        </p:nvSpPr>
        <p:spPr>
          <a:xfrm>
            <a:off x="685800" y="1764792"/>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entagon 3"/>
          <p:cNvSpPr/>
          <p:nvPr/>
        </p:nvSpPr>
        <p:spPr>
          <a:xfrm>
            <a:off x="685800" y="2286000"/>
            <a:ext cx="2057400" cy="1828800"/>
          </a:xfrm>
          <a:prstGeom prst="homePlate">
            <a:avLst/>
          </a:prstGeom>
          <a:solidFill>
            <a:srgbClr val="0C3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423160"/>
            <a:ext cx="1508760" cy="548640"/>
          </a:xfrm>
          <a:prstGeom prst="rect">
            <a:avLst/>
          </a:prstGeom>
          <a:noFill/>
        </p:spPr>
        <p:txBody>
          <a:bodyPr wrap="square" anchor="t" lIns="45720" rIns="45720" tIns="27432" bIns="27432">
            <a:spAutoFit/>
          </a:bodyPr>
          <a:lstStyle/>
          <a:p>
            <a:pPr algn="l">
              <a:lnSpc>
                <a:spcPct val="105000"/>
              </a:lnSpc>
            </a:pPr>
            <a:r>
              <a:rPr sz="2400" b="1">
                <a:solidFill>
                  <a:srgbClr val="FFFFFF"/>
                </a:solidFill>
                <a:latin typeface="Calibri"/>
              </a:rPr>
              <a:t>Upload</a:t>
            </a:r>
          </a:p>
        </p:txBody>
      </p:sp>
      <p:sp>
        <p:nvSpPr>
          <p:cNvPr id="6" name="TextBox 5"/>
          <p:cNvSpPr txBox="1"/>
          <p:nvPr/>
        </p:nvSpPr>
        <p:spPr>
          <a:xfrm>
            <a:off x="822960" y="3017520"/>
            <a:ext cx="1508760" cy="1005840"/>
          </a:xfrm>
          <a:prstGeom prst="rect">
            <a:avLst/>
          </a:prstGeom>
          <a:noFill/>
        </p:spPr>
        <p:txBody>
          <a:bodyPr wrap="square" anchor="t" lIns="45720" rIns="45720" tIns="27432" bIns="27432">
            <a:spAutoFit/>
          </a:bodyPr>
          <a:lstStyle/>
          <a:p>
            <a:pPr algn="l">
              <a:lnSpc>
                <a:spcPct val="105000"/>
              </a:lnSpc>
            </a:pPr>
            <a:r>
              <a:rPr sz="1900" b="0">
                <a:solidFill>
                  <a:srgbClr val="D8F0E4"/>
                </a:solidFill>
                <a:latin typeface="Calibri"/>
              </a:rPr>
              <a:t>project
boundary</a:t>
            </a:r>
          </a:p>
        </p:txBody>
      </p:sp>
      <p:sp>
        <p:nvSpPr>
          <p:cNvPr id="7" name="Pentagon 6"/>
          <p:cNvSpPr/>
          <p:nvPr/>
        </p:nvSpPr>
        <p:spPr>
          <a:xfrm>
            <a:off x="2880360" y="2286000"/>
            <a:ext cx="2057400" cy="1828800"/>
          </a:xfrm>
          <a:prstGeom prst="homePlate">
            <a:avLst/>
          </a:prstGeom>
          <a:solidFill>
            <a:srgbClr val="0C3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17520" y="2423160"/>
            <a:ext cx="1508760" cy="548640"/>
          </a:xfrm>
          <a:prstGeom prst="rect">
            <a:avLst/>
          </a:prstGeom>
          <a:noFill/>
        </p:spPr>
        <p:txBody>
          <a:bodyPr wrap="square" anchor="t" lIns="45720" rIns="45720" tIns="27432" bIns="27432">
            <a:spAutoFit/>
          </a:bodyPr>
          <a:lstStyle/>
          <a:p>
            <a:pPr algn="l">
              <a:lnSpc>
                <a:spcPct val="105000"/>
              </a:lnSpc>
            </a:pPr>
            <a:r>
              <a:rPr sz="2400" b="1">
                <a:solidFill>
                  <a:srgbClr val="FFFFFF"/>
                </a:solidFill>
                <a:latin typeface="Calibri"/>
              </a:rPr>
              <a:t>Match</a:t>
            </a:r>
          </a:p>
        </p:txBody>
      </p:sp>
      <p:sp>
        <p:nvSpPr>
          <p:cNvPr id="9" name="TextBox 8"/>
          <p:cNvSpPr txBox="1"/>
          <p:nvPr/>
        </p:nvSpPr>
        <p:spPr>
          <a:xfrm>
            <a:off x="3017520" y="3017520"/>
            <a:ext cx="1508760" cy="1005840"/>
          </a:xfrm>
          <a:prstGeom prst="rect">
            <a:avLst/>
          </a:prstGeom>
          <a:noFill/>
        </p:spPr>
        <p:txBody>
          <a:bodyPr wrap="square" anchor="t" lIns="45720" rIns="45720" tIns="27432" bIns="27432">
            <a:spAutoFit/>
          </a:bodyPr>
          <a:lstStyle/>
          <a:p>
            <a:pPr algn="l">
              <a:lnSpc>
                <a:spcPct val="105000"/>
              </a:lnSpc>
            </a:pPr>
            <a:r>
              <a:rPr sz="1900" b="0">
                <a:solidFill>
                  <a:srgbClr val="D8F0E4"/>
                </a:solidFill>
                <a:latin typeface="Calibri"/>
              </a:rPr>
              <a:t>50 similar
forest parcels</a:t>
            </a:r>
          </a:p>
        </p:txBody>
      </p:sp>
      <p:sp>
        <p:nvSpPr>
          <p:cNvPr id="10" name="Pentagon 9"/>
          <p:cNvSpPr/>
          <p:nvPr/>
        </p:nvSpPr>
        <p:spPr>
          <a:xfrm>
            <a:off x="5074920" y="2286000"/>
            <a:ext cx="2057400" cy="1828800"/>
          </a:xfrm>
          <a:prstGeom prst="homePlate">
            <a:avLst/>
          </a:prstGeom>
          <a:solidFill>
            <a:srgbClr val="0C3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0" y="2423160"/>
            <a:ext cx="1508760" cy="548640"/>
          </a:xfrm>
          <a:prstGeom prst="rect">
            <a:avLst/>
          </a:prstGeom>
          <a:noFill/>
        </p:spPr>
        <p:txBody>
          <a:bodyPr wrap="square" anchor="t" lIns="45720" rIns="45720" tIns="27432" bIns="27432">
            <a:spAutoFit/>
          </a:bodyPr>
          <a:lstStyle/>
          <a:p>
            <a:pPr algn="l">
              <a:lnSpc>
                <a:spcPct val="105000"/>
              </a:lnSpc>
            </a:pPr>
            <a:r>
              <a:rPr sz="2400" b="1">
                <a:solidFill>
                  <a:srgbClr val="FFFFFF"/>
                </a:solidFill>
                <a:latin typeface="Calibri"/>
              </a:rPr>
              <a:t>Watch</a:t>
            </a:r>
          </a:p>
        </p:txBody>
      </p:sp>
      <p:sp>
        <p:nvSpPr>
          <p:cNvPr id="12" name="TextBox 11"/>
          <p:cNvSpPr txBox="1"/>
          <p:nvPr/>
        </p:nvSpPr>
        <p:spPr>
          <a:xfrm>
            <a:off x="5212080" y="3017520"/>
            <a:ext cx="1508760" cy="1005840"/>
          </a:xfrm>
          <a:prstGeom prst="rect">
            <a:avLst/>
          </a:prstGeom>
          <a:noFill/>
        </p:spPr>
        <p:txBody>
          <a:bodyPr wrap="square" anchor="t" lIns="45720" rIns="45720" tIns="27432" bIns="27432">
            <a:spAutoFit/>
          </a:bodyPr>
          <a:lstStyle/>
          <a:p>
            <a:pPr algn="l">
              <a:lnSpc>
                <a:spcPct val="105000"/>
              </a:lnSpc>
            </a:pPr>
            <a:r>
              <a:rPr sz="1900" b="0">
                <a:solidFill>
                  <a:srgbClr val="D8F0E4"/>
                </a:solidFill>
                <a:latin typeface="Calibri"/>
              </a:rPr>
              <a:t>weekly satellite
radar alerts</a:t>
            </a:r>
          </a:p>
        </p:txBody>
      </p:sp>
      <p:sp>
        <p:nvSpPr>
          <p:cNvPr id="13" name="Pentagon 12"/>
          <p:cNvSpPr/>
          <p:nvPr/>
        </p:nvSpPr>
        <p:spPr>
          <a:xfrm>
            <a:off x="7269479" y="2286000"/>
            <a:ext cx="2057400" cy="1828800"/>
          </a:xfrm>
          <a:prstGeom prst="homePlate">
            <a:avLst/>
          </a:prstGeom>
          <a:solidFill>
            <a:srgbClr val="0C3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6640" y="2423160"/>
            <a:ext cx="1508760" cy="548640"/>
          </a:xfrm>
          <a:prstGeom prst="rect">
            <a:avLst/>
          </a:prstGeom>
          <a:noFill/>
        </p:spPr>
        <p:txBody>
          <a:bodyPr wrap="square" anchor="t" lIns="45720" rIns="45720" tIns="27432" bIns="27432">
            <a:spAutoFit/>
          </a:bodyPr>
          <a:lstStyle/>
          <a:p>
            <a:pPr algn="l">
              <a:lnSpc>
                <a:spcPct val="105000"/>
              </a:lnSpc>
            </a:pPr>
            <a:r>
              <a:rPr sz="2400" b="1">
                <a:solidFill>
                  <a:srgbClr val="FFFFFF"/>
                </a:solidFill>
                <a:latin typeface="Calibri"/>
              </a:rPr>
              <a:t>Compare</a:t>
            </a:r>
          </a:p>
        </p:txBody>
      </p:sp>
      <p:sp>
        <p:nvSpPr>
          <p:cNvPr id="15" name="TextBox 14"/>
          <p:cNvSpPr txBox="1"/>
          <p:nvPr/>
        </p:nvSpPr>
        <p:spPr>
          <a:xfrm>
            <a:off x="7406640" y="3017520"/>
            <a:ext cx="1508760" cy="1005840"/>
          </a:xfrm>
          <a:prstGeom prst="rect">
            <a:avLst/>
          </a:prstGeom>
          <a:noFill/>
        </p:spPr>
        <p:txBody>
          <a:bodyPr wrap="square" anchor="t" lIns="45720" rIns="45720" tIns="27432" bIns="27432">
            <a:spAutoFit/>
          </a:bodyPr>
          <a:lstStyle/>
          <a:p>
            <a:pPr algn="l">
              <a:lnSpc>
                <a:spcPct val="105000"/>
              </a:lnSpc>
            </a:pPr>
            <a:r>
              <a:rPr sz="1900" b="0">
                <a:solidFill>
                  <a:srgbClr val="D8F0E4"/>
                </a:solidFill>
                <a:latin typeface="Calibri"/>
              </a:rPr>
              <a:t>avoided loss
in tons of CO2e</a:t>
            </a:r>
          </a:p>
        </p:txBody>
      </p:sp>
      <p:sp>
        <p:nvSpPr>
          <p:cNvPr id="16" name="Pentagon 15"/>
          <p:cNvSpPr/>
          <p:nvPr/>
        </p:nvSpPr>
        <p:spPr>
          <a:xfrm>
            <a:off x="9464040" y="2286000"/>
            <a:ext cx="2057400" cy="1828800"/>
          </a:xfrm>
          <a:prstGeom prst="homePlate">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0" y="2423160"/>
            <a:ext cx="1508760" cy="548640"/>
          </a:xfrm>
          <a:prstGeom prst="rect">
            <a:avLst/>
          </a:prstGeom>
          <a:noFill/>
        </p:spPr>
        <p:txBody>
          <a:bodyPr wrap="square" anchor="t" lIns="45720" rIns="45720" tIns="27432" bIns="27432">
            <a:spAutoFit/>
          </a:bodyPr>
          <a:lstStyle/>
          <a:p>
            <a:pPr algn="l">
              <a:lnSpc>
                <a:spcPct val="105000"/>
              </a:lnSpc>
            </a:pPr>
            <a:r>
              <a:rPr sz="2400" b="1">
                <a:solidFill>
                  <a:srgbClr val="FFFFFF"/>
                </a:solidFill>
                <a:latin typeface="Calibri"/>
              </a:rPr>
              <a:t>Publish</a:t>
            </a:r>
          </a:p>
        </p:txBody>
      </p:sp>
      <p:sp>
        <p:nvSpPr>
          <p:cNvPr id="18" name="TextBox 17"/>
          <p:cNvSpPr txBox="1"/>
          <p:nvPr/>
        </p:nvSpPr>
        <p:spPr>
          <a:xfrm>
            <a:off x="9601200" y="3017520"/>
            <a:ext cx="1508760" cy="1005840"/>
          </a:xfrm>
          <a:prstGeom prst="rect">
            <a:avLst/>
          </a:prstGeom>
          <a:noFill/>
        </p:spPr>
        <p:txBody>
          <a:bodyPr wrap="square" anchor="t" lIns="45720" rIns="45720" tIns="27432" bIns="27432">
            <a:spAutoFit/>
          </a:bodyPr>
          <a:lstStyle/>
          <a:p>
            <a:pPr algn="l">
              <a:lnSpc>
                <a:spcPct val="105000"/>
              </a:lnSpc>
            </a:pPr>
            <a:r>
              <a:rPr sz="1900" b="0">
                <a:solidFill>
                  <a:srgbClr val="D8F0E4"/>
                </a:solidFill>
                <a:latin typeface="Calibri"/>
              </a:rPr>
              <a:t>five-level
NFT status</a:t>
            </a:r>
          </a:p>
        </p:txBody>
      </p:sp>
      <p:sp>
        <p:nvSpPr>
          <p:cNvPr id="19" name="Rectangle 18"/>
          <p:cNvSpPr/>
          <p:nvPr/>
        </p:nvSpPr>
        <p:spPr>
          <a:xfrm>
            <a:off x="685800" y="4434840"/>
            <a:ext cx="10835640" cy="77724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434840"/>
            <a:ext cx="2377440" cy="777240"/>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Any project</a:t>
            </a:r>
          </a:p>
        </p:txBody>
      </p:sp>
      <p:sp>
        <p:nvSpPr>
          <p:cNvPr id="21" name="TextBox 20"/>
          <p:cNvSpPr txBox="1"/>
          <p:nvPr/>
        </p:nvSpPr>
        <p:spPr>
          <a:xfrm>
            <a:off x="3246120" y="4434840"/>
            <a:ext cx="8092440" cy="777240"/>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Upload a KML file in the dashboard. No code.</a:t>
            </a:r>
          </a:p>
        </p:txBody>
      </p:sp>
      <p:sp>
        <p:nvSpPr>
          <p:cNvPr id="22" name="Rectangle 21"/>
          <p:cNvSpPr/>
          <p:nvPr/>
        </p:nvSpPr>
        <p:spPr>
          <a:xfrm>
            <a:off x="685800" y="5349240"/>
            <a:ext cx="10835640" cy="77724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5349240"/>
            <a:ext cx="2377440" cy="777240"/>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Live now</a:t>
            </a:r>
          </a:p>
        </p:txBody>
      </p:sp>
      <p:sp>
        <p:nvSpPr>
          <p:cNvPr id="24" name="TextBox 23"/>
          <p:cNvSpPr txBox="1"/>
          <p:nvPr/>
        </p:nvSpPr>
        <p:spPr>
          <a:xfrm>
            <a:off x="3246120" y="5349240"/>
            <a:ext cx="8092440" cy="777240"/>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Four projects: two in Brazil, one in Cambodia, one in Bolivia.</a:t>
            </a:r>
          </a:p>
        </p:txBody>
      </p:sp>
      <p:sp>
        <p:nvSpPr>
          <p:cNvPr id="25" name="TextBox 24"/>
          <p:cNvSpPr txBox="1"/>
          <p:nvPr/>
        </p:nvSpPr>
        <p:spPr>
          <a:xfrm>
            <a:off x="640080" y="6400800"/>
            <a:ext cx="5486400" cy="27432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Qanopy · Carbon credit verification</a:t>
            </a:r>
          </a:p>
        </p:txBody>
      </p:sp>
      <p:sp>
        <p:nvSpPr>
          <p:cNvPr id="26" name="TextBox 25"/>
          <p:cNvSpPr txBox="1"/>
          <p:nvPr/>
        </p:nvSpPr>
        <p:spPr>
          <a:xfrm>
            <a:off x="10881360" y="6400800"/>
            <a:ext cx="731520" cy="274320"/>
          </a:xfrm>
          <a:prstGeom prst="rect">
            <a:avLst/>
          </a:prstGeom>
          <a:noFill/>
        </p:spPr>
        <p:txBody>
          <a:bodyPr wrap="square" anchor="t" lIns="45720" rIns="45720" tIns="27432" bIns="27432">
            <a:spAutoFit/>
          </a:bodyPr>
          <a:lstStyle/>
          <a:p>
            <a:pPr algn="r">
              <a:lnSpc>
                <a:spcPct val="105000"/>
              </a:lnSpc>
            </a:pPr>
            <a:r>
              <a:rPr sz="1200" b="0">
                <a:solidFill>
                  <a:srgbClr val="587063"/>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881360" cy="1188720"/>
          </a:xfrm>
          <a:prstGeom prst="rect">
            <a:avLst/>
          </a:prstGeom>
          <a:noFill/>
        </p:spPr>
        <p:txBody>
          <a:bodyPr wrap="square" anchor="t" lIns="45720" rIns="45720" tIns="27432" bIns="27432">
            <a:spAutoFit/>
          </a:bodyPr>
          <a:lstStyle/>
          <a:p>
            <a:pPr algn="l">
              <a:lnSpc>
                <a:spcPct val="95000"/>
              </a:lnSpc>
            </a:pPr>
            <a:r>
              <a:rPr sz="3600" b="1">
                <a:solidFill>
                  <a:srgbClr val="0C3D2B"/>
                </a:solidFill>
                <a:latin typeface="Calibri"/>
              </a:rPr>
              <a:t>ALGAR, Brazil: 31% of the claim so far</a:t>
            </a:r>
          </a:p>
        </p:txBody>
      </p:sp>
      <p:sp>
        <p:nvSpPr>
          <p:cNvPr id="3" name="Rectangle 2"/>
          <p:cNvSpPr/>
          <p:nvPr/>
        </p:nvSpPr>
        <p:spPr>
          <a:xfrm>
            <a:off x="685800" y="1097280"/>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ck_hero_c.png"/>
          <p:cNvPicPr>
            <a:picLocks noChangeAspect="1"/>
          </p:cNvPicPr>
          <p:nvPr/>
        </p:nvPicPr>
        <p:blipFill>
          <a:blip r:embed="rId3"/>
          <a:stretch>
            <a:fillRect/>
          </a:stretch>
        </p:blipFill>
        <p:spPr>
          <a:xfrm>
            <a:off x="1280160" y="1463040"/>
            <a:ext cx="9601200" cy="4200525"/>
          </a:xfrm>
          <a:prstGeom prst="rect">
            <a:avLst/>
          </a:prstGeom>
        </p:spPr>
      </p:pic>
      <p:sp>
        <p:nvSpPr>
          <p:cNvPr id="5" name="TextBox 4"/>
          <p:cNvSpPr txBox="1"/>
          <p:nvPr/>
        </p:nvSpPr>
        <p:spPr>
          <a:xfrm>
            <a:off x="685800" y="5852160"/>
            <a:ext cx="10835640" cy="548640"/>
          </a:xfrm>
          <a:prstGeom prst="rect">
            <a:avLst/>
          </a:prstGeom>
          <a:noFill/>
        </p:spPr>
        <p:txBody>
          <a:bodyPr wrap="square" anchor="t" lIns="45720" rIns="45720" tIns="27432" bIns="27432">
            <a:spAutoFit/>
          </a:bodyPr>
          <a:lstStyle/>
          <a:p>
            <a:pPr algn="l">
              <a:lnSpc>
                <a:spcPct val="105000"/>
              </a:lnSpc>
            </a:pPr>
            <a:r>
              <a:rPr sz="2100" b="1">
                <a:solidFill>
                  <a:srgbClr val="0C3D2B"/>
                </a:solidFill>
                <a:latin typeface="Calibri"/>
              </a:rPr>
              <a:t>Project loss 0.58%. Parcel loss 4.61%. </a:t>
            </a:r>
            <a:r>
              <a:rPr sz="2100" b="0">
                <a:solidFill>
                  <a:srgbClr val="0F2419"/>
                </a:solidFill>
                <a:latin typeface="Calibri"/>
              </a:rPr>
              <a:t>Status: Worst. A flag to investigate.</a:t>
            </a:r>
          </a:p>
        </p:txBody>
      </p:sp>
      <p:sp>
        <p:nvSpPr>
          <p:cNvPr id="6" name="TextBox 5"/>
          <p:cNvSpPr txBox="1"/>
          <p:nvPr/>
        </p:nvSpPr>
        <p:spPr>
          <a:xfrm>
            <a:off x="640080" y="6400800"/>
            <a:ext cx="5486400" cy="27432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Qanopy · Carbon credit verification</a:t>
            </a:r>
          </a:p>
        </p:txBody>
      </p:sp>
      <p:sp>
        <p:nvSpPr>
          <p:cNvPr id="7" name="TextBox 6"/>
          <p:cNvSpPr txBox="1"/>
          <p:nvPr/>
        </p:nvSpPr>
        <p:spPr>
          <a:xfrm>
            <a:off x="10881360" y="6400800"/>
            <a:ext cx="731520" cy="274320"/>
          </a:xfrm>
          <a:prstGeom prst="rect">
            <a:avLst/>
          </a:prstGeom>
          <a:noFill/>
        </p:spPr>
        <p:txBody>
          <a:bodyPr wrap="square" anchor="t" lIns="45720" rIns="45720" tIns="27432" bIns="27432">
            <a:spAutoFit/>
          </a:bodyPr>
          <a:lstStyle/>
          <a:p>
            <a:pPr algn="r">
              <a:lnSpc>
                <a:spcPct val="105000"/>
              </a:lnSpc>
            </a:pPr>
            <a:r>
              <a:rPr sz="1200" b="0">
                <a:solidFill>
                  <a:srgbClr val="587063"/>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1188720"/>
          </a:xfrm>
          <a:prstGeom prst="rect">
            <a:avLst/>
          </a:prstGeom>
          <a:noFill/>
        </p:spPr>
        <p:txBody>
          <a:bodyPr wrap="square" anchor="t" lIns="45720" rIns="45720" tIns="27432" bIns="27432">
            <a:spAutoFit/>
          </a:bodyPr>
          <a:lstStyle/>
          <a:p>
            <a:pPr algn="l">
              <a:lnSpc>
                <a:spcPct val="95000"/>
              </a:lnSpc>
            </a:pPr>
            <a:r>
              <a:rPr sz="3600" b="1">
                <a:solidFill>
                  <a:srgbClr val="0C3D2B"/>
                </a:solidFill>
                <a:latin typeface="Calibri"/>
              </a:rPr>
              <a:t>QAE ran on IBM's 156-qubit ibm_fez</a:t>
            </a:r>
          </a:p>
        </p:txBody>
      </p:sp>
      <p:sp>
        <p:nvSpPr>
          <p:cNvPr id="3" name="Rectangle 2"/>
          <p:cNvSpPr/>
          <p:nvPr/>
        </p:nvSpPr>
        <p:spPr>
          <a:xfrm>
            <a:off x="685800" y="1234440"/>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qae_chart.png"/>
          <p:cNvPicPr>
            <a:picLocks noChangeAspect="1"/>
          </p:cNvPicPr>
          <p:nvPr/>
        </p:nvPicPr>
        <p:blipFill>
          <a:blip r:embed="rId3"/>
          <a:stretch>
            <a:fillRect/>
          </a:stretch>
        </p:blipFill>
        <p:spPr>
          <a:xfrm>
            <a:off x="548640" y="1600200"/>
            <a:ext cx="6035040" cy="3855720"/>
          </a:xfrm>
          <a:prstGeom prst="rect">
            <a:avLst/>
          </a:prstGeom>
        </p:spPr>
      </p:pic>
      <p:sp>
        <p:nvSpPr>
          <p:cNvPr id="5" name="Rectangle 4"/>
          <p:cNvSpPr/>
          <p:nvPr/>
        </p:nvSpPr>
        <p:spPr>
          <a:xfrm>
            <a:off x="6858000" y="1783080"/>
            <a:ext cx="4709160" cy="118872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0" y="1783080"/>
            <a:ext cx="1325880" cy="1188720"/>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Small test</a:t>
            </a:r>
          </a:p>
        </p:txBody>
      </p:sp>
      <p:sp>
        <p:nvSpPr>
          <p:cNvPr id="7" name="TextBox 6"/>
          <p:cNvSpPr txBox="1"/>
          <p:nvPr/>
        </p:nvSpPr>
        <p:spPr>
          <a:xfrm>
            <a:off x="8366760" y="1783080"/>
            <a:ext cx="3017520" cy="1188720"/>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1 qubit. Error below Monte Carlo at 5 of 8 budgets, up to 16x.</a:t>
            </a:r>
          </a:p>
        </p:txBody>
      </p:sp>
      <p:sp>
        <p:nvSpPr>
          <p:cNvPr id="8" name="Rectangle 7"/>
          <p:cNvSpPr/>
          <p:nvPr/>
        </p:nvSpPr>
        <p:spPr>
          <a:xfrm>
            <a:off x="6858000" y="3154680"/>
            <a:ext cx="4709160" cy="118872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0" y="3154680"/>
            <a:ext cx="1325880" cy="1188720"/>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Real size</a:t>
            </a:r>
          </a:p>
        </p:txBody>
      </p:sp>
      <p:sp>
        <p:nvSpPr>
          <p:cNvPr id="10" name="TextBox 9"/>
          <p:cNvSpPr txBox="1"/>
          <p:nvPr/>
        </p:nvSpPr>
        <p:spPr>
          <a:xfrm>
            <a:off x="8366760" y="3154680"/>
            <a:ext cx="3017520" cy="1188720"/>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50 parcels, 865 two-qubit gates. Signal gone after 1 Grover step.</a:t>
            </a:r>
          </a:p>
        </p:txBody>
      </p:sp>
      <p:sp>
        <p:nvSpPr>
          <p:cNvPr id="11" name="Rectangle 10"/>
          <p:cNvSpPr/>
          <p:nvPr/>
        </p:nvSpPr>
        <p:spPr>
          <a:xfrm>
            <a:off x="6858000" y="4526280"/>
            <a:ext cx="4709160" cy="118872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0" y="4526280"/>
            <a:ext cx="1325880" cy="1188720"/>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Limit</a:t>
            </a:r>
          </a:p>
        </p:txBody>
      </p:sp>
      <p:sp>
        <p:nvSpPr>
          <p:cNvPr id="13" name="TextBox 12"/>
          <p:cNvSpPr txBox="1"/>
          <p:nvPr/>
        </p:nvSpPr>
        <p:spPr>
          <a:xfrm>
            <a:off x="8366760" y="4526280"/>
            <a:ext cx="3017520" cy="1188720"/>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At 262,000 calls, hardware noise removes the edge.</a:t>
            </a:r>
          </a:p>
        </p:txBody>
      </p:sp>
      <p:sp>
        <p:nvSpPr>
          <p:cNvPr id="14" name="TextBox 13"/>
          <p:cNvSpPr txBox="1"/>
          <p:nvPr/>
        </p:nvSpPr>
        <p:spPr>
          <a:xfrm>
            <a:off x="6858000" y="5806440"/>
            <a:ext cx="4754880" cy="457200"/>
          </a:xfrm>
          <a:prstGeom prst="rect">
            <a:avLst/>
          </a:prstGeom>
          <a:noFill/>
        </p:spPr>
        <p:txBody>
          <a:bodyPr wrap="square" anchor="t" lIns="45720" rIns="45720" tIns="27432" bIns="27432">
            <a:spAutoFit/>
          </a:bodyPr>
          <a:lstStyle/>
          <a:p>
            <a:pPr algn="l">
              <a:lnSpc>
                <a:spcPct val="105000"/>
              </a:lnSpc>
            </a:pPr>
            <a:r>
              <a:rPr sz="1300" b="0">
                <a:solidFill>
                  <a:srgbClr val="587063"/>
                </a:solidFill>
                <a:latin typeface="Calibri"/>
              </a:rPr>
              <a:t>One hardware run per point. Monte Carlo shown as expected error.</a:t>
            </a:r>
          </a:p>
        </p:txBody>
      </p:sp>
      <p:sp>
        <p:nvSpPr>
          <p:cNvPr id="15" name="TextBox 14"/>
          <p:cNvSpPr txBox="1"/>
          <p:nvPr/>
        </p:nvSpPr>
        <p:spPr>
          <a:xfrm>
            <a:off x="640080" y="6400800"/>
            <a:ext cx="5486400" cy="27432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Qanopy · Carbon credit verification</a:t>
            </a:r>
          </a:p>
        </p:txBody>
      </p:sp>
      <p:sp>
        <p:nvSpPr>
          <p:cNvPr id="16" name="TextBox 15"/>
          <p:cNvSpPr txBox="1"/>
          <p:nvPr/>
        </p:nvSpPr>
        <p:spPr>
          <a:xfrm>
            <a:off x="10881360" y="6400800"/>
            <a:ext cx="731520" cy="274320"/>
          </a:xfrm>
          <a:prstGeom prst="rect">
            <a:avLst/>
          </a:prstGeom>
          <a:noFill/>
        </p:spPr>
        <p:txBody>
          <a:bodyPr wrap="square" anchor="t" lIns="45720" rIns="45720" tIns="27432" bIns="27432">
            <a:spAutoFit/>
          </a:bodyPr>
          <a:lstStyle/>
          <a:p>
            <a:pPr algn="r">
              <a:lnSpc>
                <a:spcPct val="105000"/>
              </a:lnSpc>
            </a:pPr>
            <a:r>
              <a:rPr sz="1200" b="0">
                <a:solidFill>
                  <a:srgbClr val="587063"/>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1188720"/>
          </a:xfrm>
          <a:prstGeom prst="rect">
            <a:avLst/>
          </a:prstGeom>
          <a:noFill/>
        </p:spPr>
        <p:txBody>
          <a:bodyPr wrap="square" anchor="t" lIns="45720" rIns="45720" tIns="27432" bIns="27432">
            <a:spAutoFit/>
          </a:bodyPr>
          <a:lstStyle/>
          <a:p>
            <a:pPr algn="l">
              <a:lnSpc>
                <a:spcPct val="95000"/>
              </a:lnSpc>
            </a:pPr>
            <a:r>
              <a:rPr sz="4000" b="1">
                <a:solidFill>
                  <a:srgbClr val="0C3D2B"/>
                </a:solidFill>
                <a:latin typeface="Calibri"/>
              </a:rPr>
              <a:t>Quantum pays off when the scale grows</a:t>
            </a:r>
          </a:p>
        </p:txBody>
      </p:sp>
      <p:sp>
        <p:nvSpPr>
          <p:cNvPr id="3" name="Rectangle 2"/>
          <p:cNvSpPr/>
          <p:nvPr/>
        </p:nvSpPr>
        <p:spPr>
          <a:xfrm>
            <a:off x="685800" y="1764792"/>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103120"/>
            <a:ext cx="10835640" cy="91440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103120"/>
            <a:ext cx="2377440" cy="914400"/>
          </a:xfrm>
          <a:prstGeom prst="rect">
            <a:avLst/>
          </a:prstGeom>
          <a:noFill/>
        </p:spPr>
        <p:txBody>
          <a:bodyPr wrap="square" anchor="ctr" lIns="45720" rIns="45720" tIns="27432" bIns="27432">
            <a:spAutoFit/>
          </a:bodyPr>
          <a:lstStyle/>
          <a:p>
            <a:pPr algn="l">
              <a:lnSpc>
                <a:spcPct val="105000"/>
              </a:lnSpc>
            </a:pPr>
            <a:r>
              <a:rPr sz="2400" b="1">
                <a:solidFill>
                  <a:srgbClr val="0C3D2B"/>
                </a:solidFill>
                <a:latin typeface="Calibri"/>
              </a:rPr>
              <a:t>Ran</a:t>
            </a:r>
          </a:p>
        </p:txBody>
      </p:sp>
      <p:sp>
        <p:nvSpPr>
          <p:cNvPr id="6" name="TextBox 5"/>
          <p:cNvSpPr txBox="1"/>
          <p:nvPr/>
        </p:nvSpPr>
        <p:spPr>
          <a:xfrm>
            <a:off x="3246120" y="2103120"/>
            <a:ext cx="8092440" cy="914400"/>
          </a:xfrm>
          <a:prstGeom prst="rect">
            <a:avLst/>
          </a:prstGeom>
          <a:noFill/>
        </p:spPr>
        <p:txBody>
          <a:bodyPr wrap="square" anchor="ctr" lIns="45720" rIns="45720" tIns="27432" bIns="27432">
            <a:spAutoFit/>
          </a:bodyPr>
          <a:lstStyle/>
          <a:p>
            <a:pPr algn="l">
              <a:lnSpc>
                <a:spcPct val="100000"/>
              </a:lnSpc>
            </a:pPr>
            <a:r>
              <a:rPr sz="2200" b="0">
                <a:solidFill>
                  <a:srgbClr val="0F2419"/>
                </a:solidFill>
                <a:latin typeface="Calibri"/>
              </a:rPr>
              <a:t>QAOA picked the best 3 of 8 parcels in 71% of valid runs on ibm_fez. Random: 1.8%.</a:t>
            </a:r>
          </a:p>
        </p:txBody>
      </p:sp>
      <p:sp>
        <p:nvSpPr>
          <p:cNvPr id="7" name="Rectangle 6"/>
          <p:cNvSpPr/>
          <p:nvPr/>
        </p:nvSpPr>
        <p:spPr>
          <a:xfrm>
            <a:off x="685800" y="3154679"/>
            <a:ext cx="10835640" cy="91440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3154679"/>
            <a:ext cx="2377440" cy="914400"/>
          </a:xfrm>
          <a:prstGeom prst="rect">
            <a:avLst/>
          </a:prstGeom>
          <a:noFill/>
        </p:spPr>
        <p:txBody>
          <a:bodyPr wrap="square" anchor="ctr" lIns="45720" rIns="45720" tIns="27432" bIns="27432">
            <a:spAutoFit/>
          </a:bodyPr>
          <a:lstStyle/>
          <a:p>
            <a:pPr algn="l">
              <a:lnSpc>
                <a:spcPct val="105000"/>
              </a:lnSpc>
            </a:pPr>
            <a:r>
              <a:rPr sz="2400" b="1">
                <a:solidFill>
                  <a:srgbClr val="0C3D2B"/>
                </a:solidFill>
                <a:latin typeface="Calibri"/>
              </a:rPr>
              <a:t>Needs</a:t>
            </a:r>
          </a:p>
        </p:txBody>
      </p:sp>
      <p:sp>
        <p:nvSpPr>
          <p:cNvPr id="9" name="TextBox 8"/>
          <p:cNvSpPr txBox="1"/>
          <p:nvPr/>
        </p:nvSpPr>
        <p:spPr>
          <a:xfrm>
            <a:off x="3246120" y="3154679"/>
            <a:ext cx="8092440" cy="914400"/>
          </a:xfrm>
          <a:prstGeom prst="rect">
            <a:avLst/>
          </a:prstGeom>
          <a:noFill/>
        </p:spPr>
        <p:txBody>
          <a:bodyPr wrap="square" anchor="ctr" lIns="45720" rIns="45720" tIns="27432" bIns="27432">
            <a:spAutoFit/>
          </a:bodyPr>
          <a:lstStyle/>
          <a:p>
            <a:pPr algn="l">
              <a:lnSpc>
                <a:spcPct val="100000"/>
              </a:lnSpc>
            </a:pPr>
            <a:r>
              <a:rPr sz="2200" b="0">
                <a:solidFill>
                  <a:srgbClr val="0F2419"/>
                </a:solidFill>
                <a:latin typeface="Calibri"/>
              </a:rPr>
              <a:t>Error-corrected hardware: gates about 3,000x more accurate than today's.</a:t>
            </a:r>
          </a:p>
        </p:txBody>
      </p:sp>
      <p:sp>
        <p:nvSpPr>
          <p:cNvPr id="10" name="Rectangle 9"/>
          <p:cNvSpPr/>
          <p:nvPr/>
        </p:nvSpPr>
        <p:spPr>
          <a:xfrm>
            <a:off x="685800" y="4206240"/>
            <a:ext cx="10835640" cy="91440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06240"/>
            <a:ext cx="2377440" cy="914400"/>
          </a:xfrm>
          <a:prstGeom prst="rect">
            <a:avLst/>
          </a:prstGeom>
          <a:noFill/>
        </p:spPr>
        <p:txBody>
          <a:bodyPr wrap="square" anchor="ctr" lIns="45720" rIns="45720" tIns="27432" bIns="27432">
            <a:spAutoFit/>
          </a:bodyPr>
          <a:lstStyle/>
          <a:p>
            <a:pPr algn="l">
              <a:lnSpc>
                <a:spcPct val="105000"/>
              </a:lnSpc>
            </a:pPr>
            <a:r>
              <a:rPr sz="2400" b="1">
                <a:solidFill>
                  <a:srgbClr val="0C3D2B"/>
                </a:solidFill>
                <a:latin typeface="Calibri"/>
              </a:rPr>
              <a:t>Then</a:t>
            </a:r>
          </a:p>
        </p:txBody>
      </p:sp>
      <p:sp>
        <p:nvSpPr>
          <p:cNvPr id="12" name="TextBox 11"/>
          <p:cNvSpPr txBox="1"/>
          <p:nvPr/>
        </p:nvSpPr>
        <p:spPr>
          <a:xfrm>
            <a:off x="3246120" y="4206240"/>
            <a:ext cx="8092440" cy="914400"/>
          </a:xfrm>
          <a:prstGeom prst="rect">
            <a:avLst/>
          </a:prstGeom>
          <a:noFill/>
        </p:spPr>
        <p:txBody>
          <a:bodyPr wrap="square" anchor="ctr" lIns="45720" rIns="45720" tIns="27432" bIns="27432">
            <a:spAutoFit/>
          </a:bodyPr>
          <a:lstStyle/>
          <a:p>
            <a:pPr algn="l">
              <a:lnSpc>
                <a:spcPct val="100000"/>
              </a:lnSpc>
            </a:pPr>
            <a:r>
              <a:rPr sz="2200" b="0">
                <a:solidFill>
                  <a:srgbClr val="0F2419"/>
                </a:solidFill>
                <a:latin typeface="Calibri"/>
              </a:rPr>
              <a:t>QAE needs 2,000 runs where Monte Carlo needs 98,000 for plus or minus 1%. Thousands of projects, weekly.</a:t>
            </a:r>
          </a:p>
        </p:txBody>
      </p:sp>
      <p:sp>
        <p:nvSpPr>
          <p:cNvPr id="13" name="Rectangle 12"/>
          <p:cNvSpPr/>
          <p:nvPr/>
        </p:nvSpPr>
        <p:spPr>
          <a:xfrm>
            <a:off x="685800" y="5257800"/>
            <a:ext cx="10835640" cy="91440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5257800"/>
            <a:ext cx="2377440" cy="914400"/>
          </a:xfrm>
          <a:prstGeom prst="rect">
            <a:avLst/>
          </a:prstGeom>
          <a:noFill/>
        </p:spPr>
        <p:txBody>
          <a:bodyPr wrap="square" anchor="ctr" lIns="45720" rIns="45720" tIns="27432" bIns="27432">
            <a:spAutoFit/>
          </a:bodyPr>
          <a:lstStyle/>
          <a:p>
            <a:pPr algn="l">
              <a:lnSpc>
                <a:spcPct val="105000"/>
              </a:lnSpc>
            </a:pPr>
            <a:r>
              <a:rPr sz="2400" b="1">
                <a:solidFill>
                  <a:srgbClr val="0C3D2B"/>
                </a:solidFill>
                <a:latin typeface="Calibri"/>
              </a:rPr>
              <a:t>Until then</a:t>
            </a:r>
          </a:p>
        </p:txBody>
      </p:sp>
      <p:sp>
        <p:nvSpPr>
          <p:cNvPr id="15" name="TextBox 14"/>
          <p:cNvSpPr txBox="1"/>
          <p:nvPr/>
        </p:nvSpPr>
        <p:spPr>
          <a:xfrm>
            <a:off x="3246120" y="5257800"/>
            <a:ext cx="8092440" cy="914400"/>
          </a:xfrm>
          <a:prstGeom prst="rect">
            <a:avLst/>
          </a:prstGeom>
          <a:noFill/>
        </p:spPr>
        <p:txBody>
          <a:bodyPr wrap="square" anchor="ctr" lIns="45720" rIns="45720" tIns="27432" bIns="27432">
            <a:spAutoFit/>
          </a:bodyPr>
          <a:lstStyle/>
          <a:p>
            <a:pPr algn="l">
              <a:lnSpc>
                <a:spcPct val="100000"/>
              </a:lnSpc>
            </a:pPr>
            <a:r>
              <a:rPr sz="2200" b="0">
                <a:solidFill>
                  <a:srgbClr val="0F2419"/>
                </a:solidFill>
                <a:latin typeface="Calibri"/>
              </a:rPr>
              <a:t>Classical methods win at every size we can run.</a:t>
            </a:r>
          </a:p>
        </p:txBody>
      </p:sp>
      <p:sp>
        <p:nvSpPr>
          <p:cNvPr id="16" name="TextBox 15"/>
          <p:cNvSpPr txBox="1"/>
          <p:nvPr/>
        </p:nvSpPr>
        <p:spPr>
          <a:xfrm>
            <a:off x="640080" y="6400800"/>
            <a:ext cx="5486400" cy="27432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Qanopy · Carbon credit verification</a:t>
            </a:r>
          </a:p>
        </p:txBody>
      </p:sp>
      <p:sp>
        <p:nvSpPr>
          <p:cNvPr id="17" name="TextBox 16"/>
          <p:cNvSpPr txBox="1"/>
          <p:nvPr/>
        </p:nvSpPr>
        <p:spPr>
          <a:xfrm>
            <a:off x="10881360" y="6400800"/>
            <a:ext cx="731520" cy="274320"/>
          </a:xfrm>
          <a:prstGeom prst="rect">
            <a:avLst/>
          </a:prstGeom>
          <a:noFill/>
        </p:spPr>
        <p:txBody>
          <a:bodyPr wrap="square" anchor="t" lIns="45720" rIns="45720" tIns="27432" bIns="27432">
            <a:spAutoFit/>
          </a:bodyPr>
          <a:lstStyle/>
          <a:p>
            <a:pPr algn="r">
              <a:lnSpc>
                <a:spcPct val="105000"/>
              </a:lnSpc>
            </a:pPr>
            <a:r>
              <a:rPr sz="1200" b="0">
                <a:solidFill>
                  <a:srgbClr val="587063"/>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1188720"/>
          </a:xfrm>
          <a:prstGeom prst="rect">
            <a:avLst/>
          </a:prstGeom>
          <a:noFill/>
        </p:spPr>
        <p:txBody>
          <a:bodyPr wrap="square" anchor="t" lIns="45720" rIns="45720" tIns="27432" bIns="27432">
            <a:spAutoFit/>
          </a:bodyPr>
          <a:lstStyle/>
          <a:p>
            <a:pPr algn="l">
              <a:lnSpc>
                <a:spcPct val="95000"/>
              </a:lnSpc>
            </a:pPr>
            <a:r>
              <a:rPr sz="4000" b="1">
                <a:solidFill>
                  <a:srgbClr val="0C3D2B"/>
                </a:solidFill>
                <a:latin typeface="Calibri"/>
              </a:rPr>
              <a:t>Who pays: the people who rely on credits</a:t>
            </a:r>
          </a:p>
        </p:txBody>
      </p:sp>
      <p:sp>
        <p:nvSpPr>
          <p:cNvPr id="3" name="Rectangle 2"/>
          <p:cNvSpPr/>
          <p:nvPr/>
        </p:nvSpPr>
        <p:spPr>
          <a:xfrm>
            <a:off x="685800" y="1764792"/>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194560"/>
            <a:ext cx="10835640" cy="658368"/>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194560"/>
            <a:ext cx="2377440" cy="658368"/>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Customers</a:t>
            </a:r>
          </a:p>
        </p:txBody>
      </p:sp>
      <p:sp>
        <p:nvSpPr>
          <p:cNvPr id="6" name="TextBox 5"/>
          <p:cNvSpPr txBox="1"/>
          <p:nvPr/>
        </p:nvSpPr>
        <p:spPr>
          <a:xfrm>
            <a:off x="3246120" y="2194560"/>
            <a:ext cx="8092440" cy="658368"/>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Credit buyers, registries, insurers, banks.</a:t>
            </a:r>
          </a:p>
        </p:txBody>
      </p:sp>
      <p:sp>
        <p:nvSpPr>
          <p:cNvPr id="7" name="Rectangle 6"/>
          <p:cNvSpPr/>
          <p:nvPr/>
        </p:nvSpPr>
        <p:spPr>
          <a:xfrm>
            <a:off x="685800" y="2962656"/>
            <a:ext cx="10835640" cy="658368"/>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962656"/>
            <a:ext cx="2377440" cy="658368"/>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Revenue</a:t>
            </a:r>
          </a:p>
        </p:txBody>
      </p:sp>
      <p:sp>
        <p:nvSpPr>
          <p:cNvPr id="9" name="TextBox 8"/>
          <p:cNvSpPr txBox="1"/>
          <p:nvPr/>
        </p:nvSpPr>
        <p:spPr>
          <a:xfrm>
            <a:off x="3246120" y="2962656"/>
            <a:ext cx="8092440" cy="658368"/>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Subscription per monitored project.</a:t>
            </a:r>
          </a:p>
        </p:txBody>
      </p:sp>
      <p:sp>
        <p:nvSpPr>
          <p:cNvPr id="10" name="Rectangle 9"/>
          <p:cNvSpPr/>
          <p:nvPr/>
        </p:nvSpPr>
        <p:spPr>
          <a:xfrm>
            <a:off x="685800" y="3730752"/>
            <a:ext cx="10835640" cy="658368"/>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730752"/>
            <a:ext cx="2377440" cy="658368"/>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Status</a:t>
            </a:r>
          </a:p>
        </p:txBody>
      </p:sp>
      <p:sp>
        <p:nvSpPr>
          <p:cNvPr id="12" name="TextBox 11"/>
          <p:cNvSpPr txBox="1"/>
          <p:nvPr/>
        </p:nvSpPr>
        <p:spPr>
          <a:xfrm>
            <a:off x="3246120" y="3730752"/>
            <a:ext cx="8092440" cy="658368"/>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Prototype on 4 projects. NFTs on Base Sepolia (test network).</a:t>
            </a:r>
          </a:p>
        </p:txBody>
      </p:sp>
      <p:sp>
        <p:nvSpPr>
          <p:cNvPr id="13" name="Rectangle 12"/>
          <p:cNvSpPr/>
          <p:nvPr/>
        </p:nvSpPr>
        <p:spPr>
          <a:xfrm>
            <a:off x="685800" y="4498848"/>
            <a:ext cx="10835640" cy="658368"/>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498848"/>
            <a:ext cx="2377440" cy="658368"/>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Built here</a:t>
            </a:r>
          </a:p>
        </p:txBody>
      </p:sp>
      <p:sp>
        <p:nvSpPr>
          <p:cNvPr id="15" name="TextBox 14"/>
          <p:cNvSpPr txBox="1"/>
          <p:nvPr/>
        </p:nvSpPr>
        <p:spPr>
          <a:xfrm>
            <a:off x="3246120" y="4498848"/>
            <a:ext cx="8092440" cy="658368"/>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Quantum runs, monitoring, NFT status, upload dashboard.</a:t>
            </a:r>
          </a:p>
        </p:txBody>
      </p:sp>
      <p:sp>
        <p:nvSpPr>
          <p:cNvPr id="16" name="Rectangle 15"/>
          <p:cNvSpPr/>
          <p:nvPr/>
        </p:nvSpPr>
        <p:spPr>
          <a:xfrm>
            <a:off x="685800" y="5266944"/>
            <a:ext cx="10835640" cy="658368"/>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5266944"/>
            <a:ext cx="2377440" cy="658368"/>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Next</a:t>
            </a:r>
          </a:p>
        </p:txBody>
      </p:sp>
      <p:sp>
        <p:nvSpPr>
          <p:cNvPr id="18" name="TextBox 17"/>
          <p:cNvSpPr txBox="1"/>
          <p:nvPr/>
        </p:nvSpPr>
        <p:spPr>
          <a:xfrm>
            <a:off x="3246120" y="5266944"/>
            <a:ext cx="8092440" cy="658368"/>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Replace assumed carbon densities with project data.</a:t>
            </a:r>
          </a:p>
        </p:txBody>
      </p:sp>
      <p:sp>
        <p:nvSpPr>
          <p:cNvPr id="19" name="TextBox 18"/>
          <p:cNvSpPr txBox="1"/>
          <p:nvPr/>
        </p:nvSpPr>
        <p:spPr>
          <a:xfrm>
            <a:off x="685800" y="5989320"/>
            <a:ext cx="10835640" cy="365760"/>
          </a:xfrm>
          <a:prstGeom prst="rect">
            <a:avLst/>
          </a:prstGeom>
          <a:noFill/>
        </p:spPr>
        <p:txBody>
          <a:bodyPr wrap="square" anchor="t" lIns="45720" rIns="45720" tIns="27432" bIns="27432">
            <a:spAutoFit/>
          </a:bodyPr>
          <a:lstStyle/>
          <a:p>
            <a:pPr algn="l">
              <a:lnSpc>
                <a:spcPct val="105000"/>
              </a:lnSpc>
            </a:pPr>
            <a:r>
              <a:rPr sz="1500" b="0">
                <a:solidFill>
                  <a:srgbClr val="587063"/>
                </a:solidFill>
                <a:latin typeface="Calibri"/>
              </a:rPr>
              <a:t>Built with: Google Earth Engine, RADD radar alerts, Qiskit, IBM Quantum, Base Sepolia, IPFS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
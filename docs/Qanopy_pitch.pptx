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Companies pay to protect forests. The trees keep carbon out of the air. How do you know a forest was really saved? Today, auditors check now and then. We check every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carbon credit is a payment to protect a forest. To prove it worked, you must show how much forest would have been cut without the project. That never happened, so it is guessed on paper. Nobody watches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protected forest. Find 50 similar patches nearby that are not protected. Satellites with radar see trees disappear every week, even through clouds. If the protected forest loses less, the difference is forest saved. We turn that into carbon dioxide and compare it with the promise. The score goes on a blockchain as an NFT: a public record nobody can quietly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ALGAR in Brazil. The protected forest lost 0.58% of its trees. The look-alikes lost 4.61%. That is about 8,000 football pitches saved, or 31% of the promise so far. The score is Worst, a warning to look closer.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quantum part. A normal computer estimates an average like a poll: it asks random questions. Ten times more precision needs a hundred times more questions. Quantum amplitude estimation needs only ten times more. We ran it on IBM's quantum computer. It beat the normal method at five of eight sizes, up to sixteen times better. But quantum chips make small mistakes, and at the biggest size they cancelled the advantage.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the real bottleneck? It is not computing. It is how sure we are. For ALGAR, the answer is 5,741 hectares, give or take about 3,100. That wide range comes from comparing against only 50 look-alike patches. More, better-matched patches would narrow it. Four times as many halves the uncertainty. A hundred times as many cuts it to a tenth. But choosing and measuring thousands of patches is far harder.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where quantum could help, in theory. First, choosing. Picking the best 50 of 200 patches has a number of possible choices with 48 digits. With thousands of patches it is far beyond checking. QAOA is a quantum method for searching such choices. Second, measuring. If each patch needs a heavy simulation, quantum amplitude estimation needs about 43 times fewer runs for one-percent precision. The catch: neither is proven to beat the best normal methods here, and chips need 2,400 times fewer mistakes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 buyers, registries, insurers and banks need to trust credits. They would pay a subscription per project. We have a working prototype on four projects, with NFTs on a test blockchain. Next, we replace our guess of how much carbon a forest holds with project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15600" cy="2926080"/>
          </a:xfrm>
          <a:prstGeom prst="rect">
            <a:avLst/>
          </a:prstGeom>
          <a:noFill/>
        </p:spPr>
        <p:txBody>
          <a:bodyPr wrap="square" anchor="t" lIns="45720" rIns="45720" tIns="27432" bIns="27432">
            <a:spAutoFit/>
          </a:bodyPr>
          <a:lstStyle/>
          <a:p>
            <a:pPr algn="l">
              <a:lnSpc>
                <a:spcPct val="95000"/>
              </a:lnSpc>
            </a:pPr>
            <a:r>
              <a:rPr sz="5200" b="1">
                <a:solidFill>
                  <a:srgbClr val="FFFFFF"/>
                </a:solidFill>
                <a:latin typeface="Calibri"/>
              </a:rPr>
              <a:t>A company pays to protect a forest. How do you know the forest was really saved?</a:t>
            </a:r>
          </a:p>
        </p:txBody>
      </p:sp>
      <p:sp>
        <p:nvSpPr>
          <p:cNvPr id="4" name="TextBox 3"/>
          <p:cNvSpPr txBox="1"/>
          <p:nvPr/>
        </p:nvSpPr>
        <p:spPr>
          <a:xfrm>
            <a:off x="822960" y="4572000"/>
            <a:ext cx="10058400" cy="822960"/>
          </a:xfrm>
          <a:prstGeom prst="rect">
            <a:avLst/>
          </a:prstGeom>
          <a:noFill/>
        </p:spPr>
        <p:txBody>
          <a:bodyPr wrap="square" anchor="t" lIns="45720" rIns="45720" tIns="27432" bIns="27432">
            <a:spAutoFit/>
          </a:bodyPr>
          <a:lstStyle/>
          <a:p>
            <a:pPr algn="l">
              <a:lnSpc>
                <a:spcPct val="105000"/>
              </a:lnSpc>
            </a:pPr>
            <a:r>
              <a:rPr sz="4000" b="1">
                <a:solidFill>
                  <a:srgbClr val="4ADE9B"/>
                </a:solidFill>
                <a:latin typeface="Calibri"/>
              </a:rPr>
              <a:t>Qanopy checks, every week.</a:t>
            </a:r>
          </a:p>
        </p:txBody>
      </p:sp>
      <p:sp>
        <p:nvSpPr>
          <p:cNvPr id="5" name="TextBox 4"/>
          <p:cNvSpPr txBox="1"/>
          <p:nvPr/>
        </p:nvSpPr>
        <p:spPr>
          <a:xfrm>
            <a:off x="822960" y="5943600"/>
            <a:ext cx="10058400" cy="365760"/>
          </a:xfrm>
          <a:prstGeom prst="rect">
            <a:avLst/>
          </a:prstGeom>
          <a:noFill/>
        </p:spPr>
        <p:txBody>
          <a:bodyPr wrap="square" anchor="t" lIns="45720" rIns="45720" tIns="27432" bIns="27432">
            <a:spAutoFit/>
          </a:bodyPr>
          <a:lstStyle/>
          <a:p>
            <a:pPr algn="l">
              <a:lnSpc>
                <a:spcPct val="105000"/>
              </a:lnSpc>
            </a:pPr>
            <a:r>
              <a:rPr sz="1600" b="0">
                <a:solidFill>
                  <a:srgbClr val="B5D3C4"/>
                </a:solidFill>
                <a:latin typeface="Calibri"/>
              </a:rPr>
              <a:t>Quantum x Finance Hackathon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You cannot see a forest that was never cut down</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945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promise</a:t>
            </a:r>
          </a:p>
        </p:txBody>
      </p:sp>
      <p:sp>
        <p:nvSpPr>
          <p:cNvPr id="6" name="TextBox 5"/>
          <p:cNvSpPr txBox="1"/>
          <p:nvPr/>
        </p:nvSpPr>
        <p:spPr>
          <a:xfrm>
            <a:off x="3246120" y="21945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Pay to protect a forest. The trees keep carbon out of the air.</a:t>
            </a:r>
          </a:p>
        </p:txBody>
      </p:sp>
      <p:sp>
        <p:nvSpPr>
          <p:cNvPr id="7" name="Rectangle 6"/>
          <p:cNvSpPr/>
          <p:nvPr/>
        </p:nvSpPr>
        <p:spPr>
          <a:xfrm>
            <a:off x="685800" y="35661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5661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catch</a:t>
            </a:r>
          </a:p>
        </p:txBody>
      </p:sp>
      <p:sp>
        <p:nvSpPr>
          <p:cNvPr id="9" name="TextBox 8"/>
          <p:cNvSpPr txBox="1"/>
          <p:nvPr/>
        </p:nvSpPr>
        <p:spPr>
          <a:xfrm>
            <a:off x="3246120" y="35661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To prove it worked, you must know what would have happened without the project. That never happened, so it is guessed.</a:t>
            </a:r>
          </a:p>
        </p:txBody>
      </p:sp>
      <p:sp>
        <p:nvSpPr>
          <p:cNvPr id="10" name="Rectangle 9"/>
          <p:cNvSpPr/>
          <p:nvPr/>
        </p:nvSpPr>
        <p:spPr>
          <a:xfrm>
            <a:off x="685800" y="4937760"/>
            <a:ext cx="10835640" cy="118872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37760"/>
            <a:ext cx="2377440" cy="1188720"/>
          </a:xfrm>
          <a:prstGeom prst="rect">
            <a:avLst/>
          </a:prstGeom>
          <a:noFill/>
        </p:spPr>
        <p:txBody>
          <a:bodyPr wrap="square" anchor="ctr" lIns="45720" rIns="45720" tIns="27432" bIns="27432">
            <a:spAutoFit/>
          </a:bodyPr>
          <a:lstStyle/>
          <a:p>
            <a:pPr algn="l">
              <a:lnSpc>
                <a:spcPct val="105000"/>
              </a:lnSpc>
            </a:pPr>
            <a:r>
              <a:rPr sz="2400" b="1">
                <a:solidFill>
                  <a:srgbClr val="0C3D2B"/>
                </a:solidFill>
                <a:latin typeface="Calibri"/>
              </a:rPr>
              <a:t>The check</a:t>
            </a:r>
          </a:p>
        </p:txBody>
      </p:sp>
      <p:sp>
        <p:nvSpPr>
          <p:cNvPr id="12" name="TextBox 11"/>
          <p:cNvSpPr txBox="1"/>
          <p:nvPr/>
        </p:nvSpPr>
        <p:spPr>
          <a:xfrm>
            <a:off x="3246120" y="4937760"/>
            <a:ext cx="8092440" cy="1188720"/>
          </a:xfrm>
          <a:prstGeom prst="rect">
            <a:avLst/>
          </a:prstGeom>
          <a:noFill/>
        </p:spPr>
        <p:txBody>
          <a:bodyPr wrap="square" anchor="ctr" lIns="45720" rIns="45720" tIns="27432" bIns="27432">
            <a:spAutoFit/>
          </a:bodyPr>
          <a:lstStyle/>
          <a:p>
            <a:pPr algn="l">
              <a:lnSpc>
                <a:spcPct val="100000"/>
              </a:lnSpc>
            </a:pPr>
            <a:r>
              <a:rPr sz="2200" b="0">
                <a:solidFill>
                  <a:srgbClr val="0F2419"/>
                </a:solidFill>
                <a:latin typeface="Calibri"/>
              </a:rPr>
              <a:t>Auditors look now and then. Nobody watches every week.</a:t>
            </a:r>
          </a:p>
        </p:txBody>
      </p:sp>
      <p:sp>
        <p:nvSpPr>
          <p:cNvPr id="13" name="TextBox 12"/>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4" name="TextBox 13"/>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3600" b="1">
                <a:solidFill>
                  <a:srgbClr val="0C3D2B"/>
                </a:solidFill>
                <a:latin typeface="Calibri"/>
              </a:rPr>
              <a:t>We compare the protected forest with look-alike forest nearby</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entagon 3"/>
          <p:cNvSpPr/>
          <p:nvPr/>
        </p:nvSpPr>
        <p:spPr>
          <a:xfrm>
            <a:off x="68580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Upload</a:t>
            </a:r>
          </a:p>
        </p:txBody>
      </p:sp>
      <p:sp>
        <p:nvSpPr>
          <p:cNvPr id="6" name="TextBox 5"/>
          <p:cNvSpPr txBox="1"/>
          <p:nvPr/>
        </p:nvSpPr>
        <p:spPr>
          <a:xfrm>
            <a:off x="82296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the project's
map file</a:t>
            </a:r>
          </a:p>
        </p:txBody>
      </p:sp>
      <p:sp>
        <p:nvSpPr>
          <p:cNvPr id="7" name="Pentagon 6"/>
          <p:cNvSpPr/>
          <p:nvPr/>
        </p:nvSpPr>
        <p:spPr>
          <a:xfrm>
            <a:off x="288036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Match</a:t>
            </a:r>
          </a:p>
        </p:txBody>
      </p:sp>
      <p:sp>
        <p:nvSpPr>
          <p:cNvPr id="9" name="TextBox 8"/>
          <p:cNvSpPr txBox="1"/>
          <p:nvPr/>
        </p:nvSpPr>
        <p:spPr>
          <a:xfrm>
            <a:off x="301752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50 look-alike
forest patches</a:t>
            </a:r>
          </a:p>
        </p:txBody>
      </p:sp>
      <p:sp>
        <p:nvSpPr>
          <p:cNvPr id="10" name="Pentagon 9"/>
          <p:cNvSpPr/>
          <p:nvPr/>
        </p:nvSpPr>
        <p:spPr>
          <a:xfrm>
            <a:off x="5074920"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Watch</a:t>
            </a:r>
          </a:p>
        </p:txBody>
      </p:sp>
      <p:sp>
        <p:nvSpPr>
          <p:cNvPr id="12" name="TextBox 11"/>
          <p:cNvSpPr txBox="1"/>
          <p:nvPr/>
        </p:nvSpPr>
        <p:spPr>
          <a:xfrm>
            <a:off x="521208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weekly radar
from satellites</a:t>
            </a:r>
          </a:p>
        </p:txBody>
      </p:sp>
      <p:sp>
        <p:nvSpPr>
          <p:cNvPr id="13" name="Pentagon 12"/>
          <p:cNvSpPr/>
          <p:nvPr/>
        </p:nvSpPr>
        <p:spPr>
          <a:xfrm>
            <a:off x="7269479" y="2194560"/>
            <a:ext cx="2057400" cy="1737360"/>
          </a:xfrm>
          <a:prstGeom prst="homePlate">
            <a:avLst/>
          </a:prstGeom>
          <a:solidFill>
            <a:srgbClr val="0C3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Compare</a:t>
            </a:r>
          </a:p>
        </p:txBody>
      </p:sp>
      <p:sp>
        <p:nvSpPr>
          <p:cNvPr id="15" name="TextBox 14"/>
          <p:cNvSpPr txBox="1"/>
          <p:nvPr/>
        </p:nvSpPr>
        <p:spPr>
          <a:xfrm>
            <a:off x="740664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forest saved,
in tons of CO2</a:t>
            </a:r>
          </a:p>
        </p:txBody>
      </p:sp>
      <p:sp>
        <p:nvSpPr>
          <p:cNvPr id="16" name="Pentagon 15"/>
          <p:cNvSpPr/>
          <p:nvPr/>
        </p:nvSpPr>
        <p:spPr>
          <a:xfrm>
            <a:off x="9464040" y="2194560"/>
            <a:ext cx="2057400" cy="1737360"/>
          </a:xfrm>
          <a:prstGeom prst="homePlate">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0" y="2331720"/>
            <a:ext cx="1508760" cy="548640"/>
          </a:xfrm>
          <a:prstGeom prst="rect">
            <a:avLst/>
          </a:prstGeom>
          <a:noFill/>
        </p:spPr>
        <p:txBody>
          <a:bodyPr wrap="square" anchor="t" lIns="45720" rIns="45720" tIns="27432" bIns="27432">
            <a:spAutoFit/>
          </a:bodyPr>
          <a:lstStyle/>
          <a:p>
            <a:pPr algn="l">
              <a:lnSpc>
                <a:spcPct val="105000"/>
              </a:lnSpc>
            </a:pPr>
            <a:r>
              <a:rPr sz="2400" b="1">
                <a:solidFill>
                  <a:srgbClr val="FFFFFF"/>
                </a:solidFill>
                <a:latin typeface="Calibri"/>
              </a:rPr>
              <a:t>Publish</a:t>
            </a:r>
          </a:p>
        </p:txBody>
      </p:sp>
      <p:sp>
        <p:nvSpPr>
          <p:cNvPr id="18" name="TextBox 17"/>
          <p:cNvSpPr txBox="1"/>
          <p:nvPr/>
        </p:nvSpPr>
        <p:spPr>
          <a:xfrm>
            <a:off x="9601200" y="2926080"/>
            <a:ext cx="1508760" cy="914400"/>
          </a:xfrm>
          <a:prstGeom prst="rect">
            <a:avLst/>
          </a:prstGeom>
          <a:noFill/>
        </p:spPr>
        <p:txBody>
          <a:bodyPr wrap="square" anchor="t" lIns="45720" rIns="45720" tIns="27432" bIns="27432">
            <a:spAutoFit/>
          </a:bodyPr>
          <a:lstStyle/>
          <a:p>
            <a:pPr algn="l">
              <a:lnSpc>
                <a:spcPct val="105000"/>
              </a:lnSpc>
            </a:pPr>
            <a:r>
              <a:rPr sz="1900" b="0">
                <a:solidFill>
                  <a:srgbClr val="D8F0E4"/>
                </a:solidFill>
                <a:latin typeface="Calibri"/>
              </a:rPr>
              <a:t>a public score
as an NFT</a:t>
            </a:r>
          </a:p>
        </p:txBody>
      </p:sp>
      <p:sp>
        <p:nvSpPr>
          <p:cNvPr id="19" name="Rectangle 18"/>
          <p:cNvSpPr/>
          <p:nvPr/>
        </p:nvSpPr>
        <p:spPr>
          <a:xfrm>
            <a:off x="685800" y="4251960"/>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51960"/>
            <a:ext cx="2743200" cy="86868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What is an NFT?</a:t>
            </a:r>
          </a:p>
        </p:txBody>
      </p:sp>
      <p:sp>
        <p:nvSpPr>
          <p:cNvPr id="21" name="TextBox 20"/>
          <p:cNvSpPr txBox="1"/>
          <p:nvPr/>
        </p:nvSpPr>
        <p:spPr>
          <a:xfrm>
            <a:off x="3611880" y="4251960"/>
            <a:ext cx="7726679" cy="86868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A public record on a blockchain. Anyone can read it. Nobody can quietly change it.</a:t>
            </a:r>
          </a:p>
        </p:txBody>
      </p:sp>
      <p:sp>
        <p:nvSpPr>
          <p:cNvPr id="22" name="Rectangle 21"/>
          <p:cNvSpPr/>
          <p:nvPr/>
        </p:nvSpPr>
        <p:spPr>
          <a:xfrm>
            <a:off x="685800" y="5257800"/>
            <a:ext cx="10835640" cy="86868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257800"/>
            <a:ext cx="2743200" cy="868680"/>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Any project</a:t>
            </a:r>
          </a:p>
        </p:txBody>
      </p:sp>
      <p:sp>
        <p:nvSpPr>
          <p:cNvPr id="24" name="TextBox 23"/>
          <p:cNvSpPr txBox="1"/>
          <p:nvPr/>
        </p:nvSpPr>
        <p:spPr>
          <a:xfrm>
            <a:off x="3611880" y="5257800"/>
            <a:ext cx="7726679" cy="868680"/>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Upload a map file. Four projects run today.</a:t>
            </a:r>
          </a:p>
        </p:txBody>
      </p:sp>
      <p:sp>
        <p:nvSpPr>
          <p:cNvPr id="25" name="TextBox 2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26" name="TextBox 2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ALGAR, Brazil: 31% of the promise delivered so far</a:t>
            </a:r>
          </a:p>
        </p:txBody>
      </p:sp>
      <p:sp>
        <p:nvSpPr>
          <p:cNvPr id="3" name="Rectangle 2"/>
          <p:cNvSpPr/>
          <p:nvPr/>
        </p:nvSpPr>
        <p:spPr>
          <a:xfrm>
            <a:off x="685800" y="109728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ck_hero_c.png"/>
          <p:cNvPicPr>
            <a:picLocks noChangeAspect="1"/>
          </p:cNvPicPr>
          <p:nvPr/>
        </p:nvPicPr>
        <p:blipFill>
          <a:blip r:embed="rId3"/>
          <a:stretch>
            <a:fillRect/>
          </a:stretch>
        </p:blipFill>
        <p:spPr>
          <a:xfrm>
            <a:off x="1280160" y="1463040"/>
            <a:ext cx="9601200" cy="4200525"/>
          </a:xfrm>
          <a:prstGeom prst="rect">
            <a:avLst/>
          </a:prstGeom>
        </p:spPr>
      </p:pic>
      <p:sp>
        <p:nvSpPr>
          <p:cNvPr id="5" name="TextBox 4"/>
          <p:cNvSpPr txBox="1"/>
          <p:nvPr/>
        </p:nvSpPr>
        <p:spPr>
          <a:xfrm>
            <a:off x="685800" y="5852160"/>
            <a:ext cx="10835640" cy="548640"/>
          </a:xfrm>
          <a:prstGeom prst="rect">
            <a:avLst/>
          </a:prstGeom>
          <a:noFill/>
        </p:spPr>
        <p:txBody>
          <a:bodyPr wrap="square" anchor="t" lIns="45720" rIns="45720" tIns="27432" bIns="27432">
            <a:spAutoFit/>
          </a:bodyPr>
          <a:lstStyle/>
          <a:p>
            <a:pPr algn="l">
              <a:lnSpc>
                <a:spcPct val="105000"/>
              </a:lnSpc>
            </a:pPr>
            <a:r>
              <a:rPr sz="2000" b="1">
                <a:solidFill>
                  <a:srgbClr val="0C3D2B"/>
                </a:solidFill>
                <a:latin typeface="Calibri"/>
              </a:rPr>
              <a:t>Protected forest lost 0.58%. Look-alikes lost 4.61%. </a:t>
            </a:r>
            <a:r>
              <a:rPr sz="2000" b="0">
                <a:solidFill>
                  <a:srgbClr val="0F2419"/>
                </a:solidFill>
                <a:latin typeface="Calibri"/>
              </a:rPr>
              <a:t>Score: Worst. A warning to look closer.</a:t>
            </a:r>
          </a:p>
        </p:txBody>
      </p:sp>
      <p:sp>
        <p:nvSpPr>
          <p:cNvPr id="6" name="TextBox 5"/>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7" name="TextBox 6"/>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We tested a quantum shortcut on IBM's quantum computer</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qae_chart.png"/>
          <p:cNvPicPr>
            <a:picLocks noChangeAspect="1"/>
          </p:cNvPicPr>
          <p:nvPr/>
        </p:nvPicPr>
        <p:blipFill>
          <a:blip r:embed="rId3"/>
          <a:stretch>
            <a:fillRect/>
          </a:stretch>
        </p:blipFill>
        <p:spPr>
          <a:xfrm>
            <a:off x="548640" y="1600200"/>
            <a:ext cx="6035040" cy="385572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Idea</a:t>
            </a:r>
          </a:p>
        </p:txBody>
      </p:sp>
      <p:sp>
        <p:nvSpPr>
          <p:cNvPr id="7" name="TextBox 6"/>
          <p:cNvSpPr txBox="1"/>
          <p:nvPr/>
        </p:nvSpPr>
        <p:spPr>
          <a:xfrm>
            <a:off x="8229600" y="178308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A poll needs many random questions. A quantum computer can ask smarter ones.</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Result</a:t>
            </a:r>
          </a:p>
        </p:txBody>
      </p:sp>
      <p:sp>
        <p:nvSpPr>
          <p:cNvPr id="10" name="TextBox 9"/>
          <p:cNvSpPr txBox="1"/>
          <p:nvPr/>
        </p:nvSpPr>
        <p:spPr>
          <a:xfrm>
            <a:off x="8229600" y="320040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Up to 16 times more accurate at 5 of 8 sizes.</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1887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Limit</a:t>
            </a:r>
          </a:p>
        </p:txBody>
      </p:sp>
      <p:sp>
        <p:nvSpPr>
          <p:cNvPr id="13" name="TextBox 12"/>
          <p:cNvSpPr txBox="1"/>
          <p:nvPr/>
        </p:nvSpPr>
        <p:spPr>
          <a:xfrm>
            <a:off x="8229600" y="4617720"/>
            <a:ext cx="31546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Chip mistakes pile up. At the biggest size the edge was gone.</a:t>
            </a:r>
          </a:p>
        </p:txBody>
      </p:sp>
      <p:sp>
        <p:nvSpPr>
          <p:cNvPr id="14" name="TextBox 13"/>
          <p:cNvSpPr txBox="1"/>
          <p:nvPr/>
        </p:nvSpPr>
        <p:spPr>
          <a:xfrm>
            <a:off x="6858000" y="5760720"/>
            <a:ext cx="4754880" cy="548640"/>
          </a:xfrm>
          <a:prstGeom prst="rect">
            <a:avLst/>
          </a:prstGeom>
          <a:noFill/>
        </p:spPr>
        <p:txBody>
          <a:bodyPr wrap="square" anchor="t" lIns="45720" rIns="45720" tIns="27432" bIns="27432">
            <a:spAutoFit/>
          </a:bodyPr>
          <a:lstStyle/>
          <a:p>
            <a:pPr algn="l">
              <a:lnSpc>
                <a:spcPct val="105000"/>
              </a:lnSpc>
            </a:pPr>
            <a:r>
              <a:rPr sz="1300" b="0">
                <a:solidFill>
                  <a:srgbClr val="587063"/>
                </a:solidFill>
                <a:latin typeface="Calibri"/>
              </a:rPr>
              <a:t>Qubit = quantum bit. One test run per point on IBM's 156-qubit chip.</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The real bottleneck: how sure we can be</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uncertainty.png"/>
          <p:cNvPicPr>
            <a:picLocks noChangeAspect="1"/>
          </p:cNvPicPr>
          <p:nvPr/>
        </p:nvPicPr>
        <p:blipFill>
          <a:blip r:embed="rId3"/>
          <a:stretch>
            <a:fillRect/>
          </a:stretch>
        </p:blipFill>
        <p:spPr>
          <a:xfrm>
            <a:off x="548640" y="1600200"/>
            <a:ext cx="6035040" cy="402336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Today</a:t>
            </a:r>
          </a:p>
        </p:txBody>
      </p:sp>
      <p:sp>
        <p:nvSpPr>
          <p:cNvPr id="7" name="TextBox 6"/>
          <p:cNvSpPr txBox="1"/>
          <p:nvPr/>
        </p:nvSpPr>
        <p:spPr>
          <a:xfrm>
            <a:off x="8366760" y="178308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ALGAR: 5,741 hectares saved, give or take 3,100. Only 50 look-alikes.</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The fix</a:t>
            </a:r>
          </a:p>
        </p:txBody>
      </p:sp>
      <p:sp>
        <p:nvSpPr>
          <p:cNvPr id="10" name="TextBox 9"/>
          <p:cNvSpPr txBox="1"/>
          <p:nvPr/>
        </p:nvSpPr>
        <p:spPr>
          <a:xfrm>
            <a:off x="8366760" y="320040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More, better look-alikes. 4x as many halves the uncertainty.</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32588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The catch</a:t>
            </a:r>
          </a:p>
        </p:txBody>
      </p:sp>
      <p:sp>
        <p:nvSpPr>
          <p:cNvPr id="13" name="TextBox 12"/>
          <p:cNvSpPr txBox="1"/>
          <p:nvPr/>
        </p:nvSpPr>
        <p:spPr>
          <a:xfrm>
            <a:off x="8366760" y="4617720"/>
            <a:ext cx="301752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Choosing and measuring thousands of them is far harder.</a:t>
            </a:r>
          </a:p>
        </p:txBody>
      </p:sp>
      <p:sp>
        <p:nvSpPr>
          <p:cNvPr id="14" name="TextBox 13"/>
          <p:cNvSpPr txBox="1"/>
          <p:nvPr/>
        </p:nvSpPr>
        <p:spPr>
          <a:xfrm>
            <a:off x="6858000" y="5943600"/>
            <a:ext cx="4754880" cy="54864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Assumes extra look-alikes are as good as the first 50. Uncertainty shrinks with the square root of the count.</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1188720"/>
          </a:xfrm>
          <a:prstGeom prst="rect">
            <a:avLst/>
          </a:prstGeom>
          <a:noFill/>
        </p:spPr>
        <p:txBody>
          <a:bodyPr wrap="square" anchor="t" lIns="45720" rIns="45720" tIns="27432" bIns="27432">
            <a:spAutoFit/>
          </a:bodyPr>
          <a:lstStyle/>
          <a:p>
            <a:pPr algn="l">
              <a:lnSpc>
                <a:spcPct val="95000"/>
              </a:lnSpc>
            </a:pPr>
            <a:r>
              <a:rPr sz="3400" b="1">
                <a:solidFill>
                  <a:srgbClr val="0C3D2B"/>
                </a:solidFill>
                <a:latin typeface="Calibri"/>
              </a:rPr>
              <a:t>Where quantum could help fix it</a:t>
            </a:r>
          </a:p>
        </p:txBody>
      </p:sp>
      <p:sp>
        <p:nvSpPr>
          <p:cNvPr id="3" name="Rectangle 2"/>
          <p:cNvSpPr/>
          <p:nvPr/>
        </p:nvSpPr>
        <p:spPr>
          <a:xfrm>
            <a:off x="685800" y="1234440"/>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_choices.png"/>
          <p:cNvPicPr>
            <a:picLocks noChangeAspect="1"/>
          </p:cNvPicPr>
          <p:nvPr/>
        </p:nvPicPr>
        <p:blipFill>
          <a:blip r:embed="rId3"/>
          <a:stretch>
            <a:fillRect/>
          </a:stretch>
        </p:blipFill>
        <p:spPr>
          <a:xfrm>
            <a:off x="548640" y="1600200"/>
            <a:ext cx="6035040" cy="4023360"/>
          </a:xfrm>
          <a:prstGeom prst="rect">
            <a:avLst/>
          </a:prstGeom>
        </p:spPr>
      </p:pic>
      <p:sp>
        <p:nvSpPr>
          <p:cNvPr id="5" name="Rectangle 4"/>
          <p:cNvSpPr/>
          <p:nvPr/>
        </p:nvSpPr>
        <p:spPr>
          <a:xfrm>
            <a:off x="6858000" y="178308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783080"/>
            <a:ext cx="14173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Choosing</a:t>
            </a:r>
          </a:p>
        </p:txBody>
      </p:sp>
      <p:sp>
        <p:nvSpPr>
          <p:cNvPr id="7" name="TextBox 6"/>
          <p:cNvSpPr txBox="1"/>
          <p:nvPr/>
        </p:nvSpPr>
        <p:spPr>
          <a:xfrm>
            <a:off x="8458200" y="1783080"/>
            <a:ext cx="29260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QAOA searches choices. Best 50 of 200 parcels: 48 digits of options.</a:t>
            </a:r>
          </a:p>
        </p:txBody>
      </p:sp>
      <p:sp>
        <p:nvSpPr>
          <p:cNvPr id="8" name="Rectangle 7"/>
          <p:cNvSpPr/>
          <p:nvPr/>
        </p:nvSpPr>
        <p:spPr>
          <a:xfrm>
            <a:off x="6858000" y="320040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3200400"/>
            <a:ext cx="14173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Measuring</a:t>
            </a:r>
          </a:p>
        </p:txBody>
      </p:sp>
      <p:sp>
        <p:nvSpPr>
          <p:cNvPr id="10" name="TextBox 9"/>
          <p:cNvSpPr txBox="1"/>
          <p:nvPr/>
        </p:nvSpPr>
        <p:spPr>
          <a:xfrm>
            <a:off x="8458200" y="3200400"/>
            <a:ext cx="29260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QAE needs about 43x fewer runs for 1% precision.</a:t>
            </a:r>
          </a:p>
        </p:txBody>
      </p:sp>
      <p:sp>
        <p:nvSpPr>
          <p:cNvPr id="11" name="Rectangle 10"/>
          <p:cNvSpPr/>
          <p:nvPr/>
        </p:nvSpPr>
        <p:spPr>
          <a:xfrm>
            <a:off x="6858000" y="4617720"/>
            <a:ext cx="4709160" cy="1234440"/>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17720"/>
            <a:ext cx="1417320" cy="1234440"/>
          </a:xfrm>
          <a:prstGeom prst="rect">
            <a:avLst/>
          </a:prstGeom>
          <a:noFill/>
        </p:spPr>
        <p:txBody>
          <a:bodyPr wrap="square" anchor="ctr" lIns="45720" rIns="45720" tIns="27432" bIns="27432">
            <a:spAutoFit/>
          </a:bodyPr>
          <a:lstStyle/>
          <a:p>
            <a:pPr algn="l">
              <a:lnSpc>
                <a:spcPct val="105000"/>
              </a:lnSpc>
            </a:pPr>
            <a:r>
              <a:rPr sz="2100" b="1">
                <a:solidFill>
                  <a:srgbClr val="0C3D2B"/>
                </a:solidFill>
                <a:latin typeface="Calibri"/>
              </a:rPr>
              <a:t>The catch</a:t>
            </a:r>
          </a:p>
        </p:txBody>
      </p:sp>
      <p:sp>
        <p:nvSpPr>
          <p:cNvPr id="13" name="TextBox 12"/>
          <p:cNvSpPr txBox="1"/>
          <p:nvPr/>
        </p:nvSpPr>
        <p:spPr>
          <a:xfrm>
            <a:off x="8458200" y="4617720"/>
            <a:ext cx="2926080" cy="1234440"/>
          </a:xfrm>
          <a:prstGeom prst="rect">
            <a:avLst/>
          </a:prstGeom>
          <a:noFill/>
        </p:spPr>
        <p:txBody>
          <a:bodyPr wrap="square" anchor="ctr" lIns="45720" rIns="45720" tIns="27432" bIns="27432">
            <a:spAutoFit/>
          </a:bodyPr>
          <a:lstStyle/>
          <a:p>
            <a:pPr algn="l">
              <a:lnSpc>
                <a:spcPct val="100000"/>
              </a:lnSpc>
            </a:pPr>
            <a:r>
              <a:rPr sz="1900" b="0">
                <a:solidFill>
                  <a:srgbClr val="0F2419"/>
                </a:solidFill>
                <a:latin typeface="Calibri"/>
              </a:rPr>
              <a:t>Not proven better than normal methods. Chips need 2,400x fewer mistakes.</a:t>
            </a:r>
          </a:p>
        </p:txBody>
      </p:sp>
      <p:sp>
        <p:nvSpPr>
          <p:cNvPr id="14" name="TextBox 13"/>
          <p:cNvSpPr txBox="1"/>
          <p:nvPr/>
        </p:nvSpPr>
        <p:spPr>
          <a:xfrm>
            <a:off x="6858000" y="5943600"/>
            <a:ext cx="4754880" cy="54864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Chart: ways to pick 50 parcels from a pool. Both speed-ups are theory for our problem.</a:t>
            </a:r>
          </a:p>
        </p:txBody>
      </p:sp>
      <p:sp>
        <p:nvSpPr>
          <p:cNvPr id="15" name="TextBox 14"/>
          <p:cNvSpPr txBox="1"/>
          <p:nvPr/>
        </p:nvSpPr>
        <p:spPr>
          <a:xfrm>
            <a:off x="640080" y="6400800"/>
            <a:ext cx="5486400" cy="274320"/>
          </a:xfrm>
          <a:prstGeom prst="rect">
            <a:avLst/>
          </a:prstGeom>
          <a:noFill/>
        </p:spPr>
        <p:txBody>
          <a:bodyPr wrap="square" anchor="t" lIns="45720" rIns="45720" tIns="27432" bIns="27432">
            <a:spAutoFit/>
          </a:bodyPr>
          <a:lstStyle/>
          <a:p>
            <a:pPr algn="l">
              <a:lnSpc>
                <a:spcPct val="105000"/>
              </a:lnSpc>
            </a:pPr>
            <a:r>
              <a:rPr sz="1200" b="0">
                <a:solidFill>
                  <a:srgbClr val="587063"/>
                </a:solidFill>
                <a:latin typeface="Calibri"/>
              </a:rPr>
              <a:t>Qanopy · Carbon credit verification</a:t>
            </a:r>
          </a:p>
        </p:txBody>
      </p:sp>
      <p:sp>
        <p:nvSpPr>
          <p:cNvPr id="16" name="TextBox 15"/>
          <p:cNvSpPr txBox="1"/>
          <p:nvPr/>
        </p:nvSpPr>
        <p:spPr>
          <a:xfrm>
            <a:off x="10881360" y="6400800"/>
            <a:ext cx="731520" cy="274320"/>
          </a:xfrm>
          <a:prstGeom prst="rect">
            <a:avLst/>
          </a:prstGeom>
          <a:noFill/>
        </p:spPr>
        <p:txBody>
          <a:bodyPr wrap="square" anchor="t" lIns="45720" rIns="45720" tIns="27432" bIns="27432">
            <a:spAutoFit/>
          </a:bodyPr>
          <a:lstStyle/>
          <a:p>
            <a:pPr algn="r">
              <a:lnSpc>
                <a:spcPct val="105000"/>
              </a:lnSpc>
            </a:pPr>
            <a:r>
              <a:rPr sz="1200" b="0">
                <a:solidFill>
                  <a:srgbClr val="58706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1188720"/>
          </a:xfrm>
          <a:prstGeom prst="rect">
            <a:avLst/>
          </a:prstGeom>
          <a:noFill/>
        </p:spPr>
        <p:txBody>
          <a:bodyPr wrap="square" anchor="t" lIns="45720" rIns="45720" tIns="27432" bIns="27432">
            <a:spAutoFit/>
          </a:bodyPr>
          <a:lstStyle/>
          <a:p>
            <a:pPr algn="l">
              <a:lnSpc>
                <a:spcPct val="95000"/>
              </a:lnSpc>
            </a:pPr>
            <a:r>
              <a:rPr sz="4000" b="1">
                <a:solidFill>
                  <a:srgbClr val="0C3D2B"/>
                </a:solidFill>
                <a:latin typeface="Calibri"/>
              </a:rPr>
              <a:t>Who would pay for this</a:t>
            </a:r>
          </a:p>
        </p:txBody>
      </p:sp>
      <p:sp>
        <p:nvSpPr>
          <p:cNvPr id="3" name="Rectangle 2"/>
          <p:cNvSpPr/>
          <p:nvPr/>
        </p:nvSpPr>
        <p:spPr>
          <a:xfrm>
            <a:off x="685800" y="1764792"/>
            <a:ext cx="1097280" cy="64008"/>
          </a:xfrm>
          <a:prstGeom prst="rect">
            <a:avLst/>
          </a:prstGeom>
          <a:solidFill>
            <a:srgbClr val="159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01168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01168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Who pays</a:t>
            </a:r>
          </a:p>
        </p:txBody>
      </p:sp>
      <p:sp>
        <p:nvSpPr>
          <p:cNvPr id="6" name="TextBox 5"/>
          <p:cNvSpPr txBox="1"/>
          <p:nvPr/>
        </p:nvSpPr>
        <p:spPr>
          <a:xfrm>
            <a:off x="3246120" y="201168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Credit buyers, registries, insurers and banks. They need to trust credits.</a:t>
            </a:r>
          </a:p>
        </p:txBody>
      </p:sp>
      <p:sp>
        <p:nvSpPr>
          <p:cNvPr id="7" name="Rectangle 6"/>
          <p:cNvSpPr/>
          <p:nvPr/>
        </p:nvSpPr>
        <p:spPr>
          <a:xfrm>
            <a:off x="685800" y="283464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83464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How</a:t>
            </a:r>
          </a:p>
        </p:txBody>
      </p:sp>
      <p:sp>
        <p:nvSpPr>
          <p:cNvPr id="9" name="TextBox 8"/>
          <p:cNvSpPr txBox="1"/>
          <p:nvPr/>
        </p:nvSpPr>
        <p:spPr>
          <a:xfrm>
            <a:off x="3246120" y="283464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A subscription for each project we monitor.</a:t>
            </a:r>
          </a:p>
        </p:txBody>
      </p:sp>
      <p:sp>
        <p:nvSpPr>
          <p:cNvPr id="10" name="Rectangle 9"/>
          <p:cNvSpPr/>
          <p:nvPr/>
        </p:nvSpPr>
        <p:spPr>
          <a:xfrm>
            <a:off x="685800" y="365760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65760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Today</a:t>
            </a:r>
          </a:p>
        </p:txBody>
      </p:sp>
      <p:sp>
        <p:nvSpPr>
          <p:cNvPr id="12" name="TextBox 11"/>
          <p:cNvSpPr txBox="1"/>
          <p:nvPr/>
        </p:nvSpPr>
        <p:spPr>
          <a:xfrm>
            <a:off x="3246120" y="365760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Working prototype on 4 projects. NFTs on a test blockchain, not real money.</a:t>
            </a:r>
          </a:p>
        </p:txBody>
      </p:sp>
      <p:sp>
        <p:nvSpPr>
          <p:cNvPr id="13" name="Rectangle 12"/>
          <p:cNvSpPr/>
          <p:nvPr/>
        </p:nvSpPr>
        <p:spPr>
          <a:xfrm>
            <a:off x="685800" y="448056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48056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Built here</a:t>
            </a:r>
          </a:p>
        </p:txBody>
      </p:sp>
      <p:sp>
        <p:nvSpPr>
          <p:cNvPr id="15" name="TextBox 14"/>
          <p:cNvSpPr txBox="1"/>
          <p:nvPr/>
        </p:nvSpPr>
        <p:spPr>
          <a:xfrm>
            <a:off x="3246120" y="448056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Quantum tests, weekly monitoring, NFT score, upload page.</a:t>
            </a:r>
          </a:p>
        </p:txBody>
      </p:sp>
      <p:sp>
        <p:nvSpPr>
          <p:cNvPr id="16" name="Rectangle 15"/>
          <p:cNvSpPr/>
          <p:nvPr/>
        </p:nvSpPr>
        <p:spPr>
          <a:xfrm>
            <a:off x="685800" y="5303520"/>
            <a:ext cx="10835640" cy="713232"/>
          </a:xfrm>
          <a:prstGeom prst="rect">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303520"/>
            <a:ext cx="2377440" cy="713232"/>
          </a:xfrm>
          <a:prstGeom prst="rect">
            <a:avLst/>
          </a:prstGeom>
          <a:noFill/>
        </p:spPr>
        <p:txBody>
          <a:bodyPr wrap="square" anchor="ctr" lIns="45720" rIns="45720" tIns="27432" bIns="27432">
            <a:spAutoFit/>
          </a:bodyPr>
          <a:lstStyle/>
          <a:p>
            <a:pPr algn="l">
              <a:lnSpc>
                <a:spcPct val="105000"/>
              </a:lnSpc>
            </a:pPr>
            <a:r>
              <a:rPr sz="2200" b="1">
                <a:solidFill>
                  <a:srgbClr val="0C3D2B"/>
                </a:solidFill>
                <a:latin typeface="Calibri"/>
              </a:rPr>
              <a:t>Next</a:t>
            </a:r>
          </a:p>
        </p:txBody>
      </p:sp>
      <p:sp>
        <p:nvSpPr>
          <p:cNvPr id="18" name="TextBox 17"/>
          <p:cNvSpPr txBox="1"/>
          <p:nvPr/>
        </p:nvSpPr>
        <p:spPr>
          <a:xfrm>
            <a:off x="3246120" y="5303520"/>
            <a:ext cx="8092440" cy="713232"/>
          </a:xfrm>
          <a:prstGeom prst="rect">
            <a:avLst/>
          </a:prstGeom>
          <a:noFill/>
        </p:spPr>
        <p:txBody>
          <a:bodyPr wrap="square" anchor="ctr" lIns="45720" rIns="45720" tIns="27432" bIns="27432">
            <a:spAutoFit/>
          </a:bodyPr>
          <a:lstStyle/>
          <a:p>
            <a:pPr algn="l">
              <a:lnSpc>
                <a:spcPct val="100000"/>
              </a:lnSpc>
            </a:pPr>
            <a:r>
              <a:rPr sz="2000" b="0">
                <a:solidFill>
                  <a:srgbClr val="0F2419"/>
                </a:solidFill>
                <a:latin typeface="Calibri"/>
              </a:rPr>
              <a:t>Use real carbon data from each project instead of our guess.</a:t>
            </a:r>
          </a:p>
        </p:txBody>
      </p:sp>
      <p:sp>
        <p:nvSpPr>
          <p:cNvPr id="19" name="TextBox 18"/>
          <p:cNvSpPr txBox="1"/>
          <p:nvPr/>
        </p:nvSpPr>
        <p:spPr>
          <a:xfrm>
            <a:off x="685800" y="5989320"/>
            <a:ext cx="10835640" cy="365760"/>
          </a:xfrm>
          <a:prstGeom prst="rect">
            <a:avLst/>
          </a:prstGeom>
          <a:noFill/>
        </p:spPr>
        <p:txBody>
          <a:bodyPr wrap="square" anchor="t" lIns="45720" rIns="45720" tIns="27432" bIns="27432">
            <a:spAutoFit/>
          </a:bodyPr>
          <a:lstStyle/>
          <a:p>
            <a:pPr algn="l">
              <a:lnSpc>
                <a:spcPct val="105000"/>
              </a:lnSpc>
            </a:pPr>
            <a:r>
              <a:rPr sz="1500" b="0">
                <a:solidFill>
                  <a:srgbClr val="587063"/>
                </a:solidFill>
                <a:latin typeface="Calibri"/>
              </a:rPr>
              <a:t>Built with: Google Earth Engine, radar satellite data, Qiskit, IBM Quantum, Base Sepolia, IPFS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